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7" r:id="rId1"/>
  </p:sldMasterIdLst>
  <p:sldIdLst>
    <p:sldId id="256" r:id="rId2"/>
    <p:sldId id="257" r:id="rId3"/>
    <p:sldId id="258" r:id="rId4"/>
    <p:sldId id="259" r:id="rId5"/>
    <p:sldId id="261" r:id="rId6"/>
    <p:sldId id="260" r:id="rId7"/>
    <p:sldId id="262" r:id="rId8"/>
    <p:sldId id="265" r:id="rId9"/>
    <p:sldId id="263" r:id="rId10"/>
    <p:sldId id="266" r:id="rId1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022" autoAdjust="0"/>
    <p:restoredTop sz="94660"/>
  </p:normalViewPr>
  <p:slideViewPr>
    <p:cSldViewPr snapToGrid="0">
      <p:cViewPr>
        <p:scale>
          <a:sx n="66" d="100"/>
          <a:sy n="66" d="100"/>
        </p:scale>
        <p:origin x="816" y="15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en-US"/>
              <a:t>Click to edit Master title style</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bg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0C36CF24-FED6-4238-A2DF-C063365C4DEE}" type="datetimeFigureOut">
              <a:rPr lang="en-US" smtClean="0"/>
              <a:t>3/23/2025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010A995-D226-4A49-997F-85BD1158C0A8}" type="slidenum">
              <a:rPr lang="en-US" smtClean="0"/>
              <a:t>‹#›</a:t>
            </a:fld>
            <a:endParaRPr lang="en-US"/>
          </a:p>
        </p:txBody>
      </p:sp>
    </p:spTree>
    <p:extLst>
      <p:ext uri="{BB962C8B-B14F-4D97-AF65-F5344CB8AC3E}">
        <p14:creationId xmlns:p14="http://schemas.microsoft.com/office/powerpoint/2010/main" val="427402738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3"/>
          <p:cNvSpPr>
            <a:spLocks noGrp="1"/>
          </p:cNvSpPr>
          <p:nvPr>
            <p:ph type="dt" sz="half" idx="10"/>
          </p:nvPr>
        </p:nvSpPr>
        <p:spPr/>
        <p:txBody>
          <a:bodyPr/>
          <a:lstStyle/>
          <a:p>
            <a:fld id="{0C36CF24-FED6-4238-A2DF-C063365C4DEE}" type="datetimeFigureOut">
              <a:rPr lang="en-US" smtClean="0"/>
              <a:t>3/23/2025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010A995-D226-4A49-997F-85BD1158C0A8}" type="slidenum">
              <a:rPr lang="en-US" smtClean="0"/>
              <a:t>‹#›</a:t>
            </a:fld>
            <a:endParaRPr lang="en-US"/>
          </a:p>
        </p:txBody>
      </p:sp>
    </p:spTree>
    <p:extLst>
      <p:ext uri="{BB962C8B-B14F-4D97-AF65-F5344CB8AC3E}">
        <p14:creationId xmlns:p14="http://schemas.microsoft.com/office/powerpoint/2010/main" val="358344438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C36CF24-FED6-4238-A2DF-C063365C4DEE}" type="datetimeFigureOut">
              <a:rPr lang="en-US" smtClean="0"/>
              <a:t>3/23/2025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010A995-D226-4A49-997F-85BD1158C0A8}" type="slidenum">
              <a:rPr lang="en-US" smtClean="0"/>
              <a:t>‹#›</a:t>
            </a:fld>
            <a:endParaRPr lang="en-US"/>
          </a:p>
        </p:txBody>
      </p:sp>
    </p:spTree>
    <p:extLst>
      <p:ext uri="{BB962C8B-B14F-4D97-AF65-F5344CB8AC3E}">
        <p14:creationId xmlns:p14="http://schemas.microsoft.com/office/powerpoint/2010/main" val="144185295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0C36CF24-FED6-4238-A2DF-C063365C4DEE}" type="datetimeFigureOut">
              <a:rPr lang="en-US" smtClean="0"/>
              <a:t>3/23/2025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010A995-D226-4A49-997F-85BD1158C0A8}" type="slidenum">
              <a:rPr lang="en-US" smtClean="0"/>
              <a:t>‹#›</a:t>
            </a:fld>
            <a:endParaRPr lang="en-US"/>
          </a:p>
        </p:txBody>
      </p:sp>
    </p:spTree>
    <p:extLst>
      <p:ext uri="{BB962C8B-B14F-4D97-AF65-F5344CB8AC3E}">
        <p14:creationId xmlns:p14="http://schemas.microsoft.com/office/powerpoint/2010/main" val="377204642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0C36CF24-FED6-4238-A2DF-C063365C4DEE}" type="datetimeFigureOut">
              <a:rPr lang="en-US" smtClean="0"/>
              <a:t>3/23/2025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7010A995-D226-4A49-997F-85BD1158C0A8}" type="slidenum">
              <a:rPr lang="en-US" smtClean="0"/>
              <a:t>‹#›</a:t>
            </a:fld>
            <a:endParaRPr lang="en-US"/>
          </a:p>
        </p:txBody>
      </p:sp>
    </p:spTree>
    <p:extLst>
      <p:ext uri="{BB962C8B-B14F-4D97-AF65-F5344CB8AC3E}">
        <p14:creationId xmlns:p14="http://schemas.microsoft.com/office/powerpoint/2010/main" val="118297820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7" name="Date Placeholder 2"/>
          <p:cNvSpPr>
            <a:spLocks noGrp="1"/>
          </p:cNvSpPr>
          <p:nvPr>
            <p:ph type="dt" sz="half" idx="10"/>
          </p:nvPr>
        </p:nvSpPr>
        <p:spPr/>
        <p:txBody>
          <a:bodyPr/>
          <a:lstStyle/>
          <a:p>
            <a:fld id="{0C36CF24-FED6-4238-A2DF-C063365C4DEE}" type="datetimeFigureOut">
              <a:rPr lang="en-US" smtClean="0"/>
              <a:t>3/23/2025</a:t>
            </a:fld>
            <a:endParaRPr lang="en-US"/>
          </a:p>
        </p:txBody>
      </p:sp>
      <p:sp>
        <p:nvSpPr>
          <p:cNvPr id="5" name="Footer Placeholder 3"/>
          <p:cNvSpPr>
            <a:spLocks noGrp="1"/>
          </p:cNvSpPr>
          <p:nvPr>
            <p:ph type="ftr" sz="quarter" idx="11"/>
          </p:nvPr>
        </p:nvSpPr>
        <p:spPr/>
        <p:txBody>
          <a:bodyPr/>
          <a:lstStyle/>
          <a:p>
            <a:endParaRPr lang="en-US"/>
          </a:p>
        </p:txBody>
      </p:sp>
      <p:sp>
        <p:nvSpPr>
          <p:cNvPr id="6" name="Slide Number Placeholder 4"/>
          <p:cNvSpPr>
            <a:spLocks noGrp="1"/>
          </p:cNvSpPr>
          <p:nvPr>
            <p:ph type="sldNum" sz="quarter" idx="12"/>
          </p:nvPr>
        </p:nvSpPr>
        <p:spPr/>
        <p:txBody>
          <a:bodyPr/>
          <a:lstStyle/>
          <a:p>
            <a:fld id="{7010A995-D226-4A49-997F-85BD1158C0A8}" type="slidenum">
              <a:rPr lang="en-US" smtClean="0"/>
              <a:t>‹#›</a:t>
            </a:fld>
            <a:endParaRPr lang="en-US"/>
          </a:p>
        </p:txBody>
      </p:sp>
    </p:spTree>
    <p:extLst>
      <p:ext uri="{BB962C8B-B14F-4D97-AF65-F5344CB8AC3E}">
        <p14:creationId xmlns:p14="http://schemas.microsoft.com/office/powerpoint/2010/main" val="103976319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0C36CF24-FED6-4238-A2DF-C063365C4DEE}" type="datetimeFigureOut">
              <a:rPr lang="en-US" smtClean="0"/>
              <a:t>3/23/2025</a:t>
            </a:fld>
            <a:endParaRPr lang="en-US"/>
          </a:p>
        </p:txBody>
      </p:sp>
      <p:sp>
        <p:nvSpPr>
          <p:cNvPr id="5" name="Footer Placeholder 2"/>
          <p:cNvSpPr>
            <a:spLocks noGrp="1"/>
          </p:cNvSpPr>
          <p:nvPr>
            <p:ph type="ftr" sz="quarter" idx="11"/>
          </p:nvPr>
        </p:nvSpPr>
        <p:spPr/>
        <p:txBody>
          <a:bodyPr/>
          <a:lstStyle/>
          <a:p>
            <a:endParaRPr lang="en-US"/>
          </a:p>
        </p:txBody>
      </p:sp>
      <p:sp>
        <p:nvSpPr>
          <p:cNvPr id="6" name="Slide Number Placeholder 3"/>
          <p:cNvSpPr>
            <a:spLocks noGrp="1"/>
          </p:cNvSpPr>
          <p:nvPr>
            <p:ph type="sldNum" sz="quarter" idx="12"/>
          </p:nvPr>
        </p:nvSpPr>
        <p:spPr/>
        <p:txBody>
          <a:bodyPr/>
          <a:lstStyle/>
          <a:p>
            <a:fld id="{7010A995-D226-4A49-997F-85BD1158C0A8}" type="slidenum">
              <a:rPr lang="en-US" smtClean="0"/>
              <a:t>‹#›</a:t>
            </a:fld>
            <a:endParaRPr lang="en-US"/>
          </a:p>
        </p:txBody>
      </p:sp>
    </p:spTree>
    <p:extLst>
      <p:ext uri="{BB962C8B-B14F-4D97-AF65-F5344CB8AC3E}">
        <p14:creationId xmlns:p14="http://schemas.microsoft.com/office/powerpoint/2010/main" val="77556929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3" y="1447800"/>
            <a:ext cx="3401064" cy="14478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54953"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7" name="Date Placeholder 4"/>
          <p:cNvSpPr>
            <a:spLocks noGrp="1"/>
          </p:cNvSpPr>
          <p:nvPr>
            <p:ph type="dt" sz="half" idx="10"/>
          </p:nvPr>
        </p:nvSpPr>
        <p:spPr/>
        <p:txBody>
          <a:bodyPr/>
          <a:lstStyle/>
          <a:p>
            <a:fld id="{0C36CF24-FED6-4238-A2DF-C063365C4DEE}" type="datetimeFigureOut">
              <a:rPr lang="en-US" smtClean="0"/>
              <a:t>3/23/2025</a:t>
            </a:fld>
            <a:endParaRPr lang="en-US"/>
          </a:p>
        </p:txBody>
      </p:sp>
      <p:sp>
        <p:nvSpPr>
          <p:cNvPr id="5" name="Footer Placeholder 5"/>
          <p:cNvSpPr>
            <a:spLocks noGrp="1"/>
          </p:cNvSpPr>
          <p:nvPr>
            <p:ph type="ftr" sz="quarter" idx="11"/>
          </p:nvPr>
        </p:nvSpPr>
        <p:spPr/>
        <p:txBody>
          <a:bodyPr/>
          <a:lstStyle/>
          <a:p>
            <a:endParaRPr lang="en-US"/>
          </a:p>
        </p:txBody>
      </p:sp>
      <p:sp>
        <p:nvSpPr>
          <p:cNvPr id="6" name="Slide Number Placeholder 6"/>
          <p:cNvSpPr>
            <a:spLocks noGrp="1"/>
          </p:cNvSpPr>
          <p:nvPr>
            <p:ph type="sldNum" sz="quarter" idx="12"/>
          </p:nvPr>
        </p:nvSpPr>
        <p:spPr/>
        <p:txBody>
          <a:bodyPr/>
          <a:lstStyle/>
          <a:p>
            <a:fld id="{7010A995-D226-4A49-997F-85BD1158C0A8}" type="slidenum">
              <a:rPr lang="en-US" smtClean="0"/>
              <a:t>‹#›</a:t>
            </a:fld>
            <a:endParaRPr lang="en-US"/>
          </a:p>
        </p:txBody>
      </p:sp>
    </p:spTree>
    <p:extLst>
      <p:ext uri="{BB962C8B-B14F-4D97-AF65-F5344CB8AC3E}">
        <p14:creationId xmlns:p14="http://schemas.microsoft.com/office/powerpoint/2010/main" val="92398989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C36CF24-FED6-4238-A2DF-C063365C4DEE}" type="datetimeFigureOut">
              <a:rPr lang="en-US" smtClean="0"/>
              <a:t>3/23/2025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010A995-D226-4A49-997F-85BD1158C0A8}" type="slidenum">
              <a:rPr lang="en-US" smtClean="0"/>
              <a:t>‹#›</a:t>
            </a:fld>
            <a:endParaRPr lang="en-US"/>
          </a:p>
        </p:txBody>
      </p:sp>
    </p:spTree>
    <p:extLst>
      <p:ext uri="{BB962C8B-B14F-4D97-AF65-F5344CB8AC3E}">
        <p14:creationId xmlns:p14="http://schemas.microsoft.com/office/powerpoint/2010/main" val="373464472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C36CF24-FED6-4238-A2DF-C063365C4DEE}" type="datetimeFigureOut">
              <a:rPr lang="en-US" smtClean="0"/>
              <a:t>3/23/2025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010A995-D226-4A49-997F-85BD1158C0A8}" type="slidenum">
              <a:rPr lang="en-US" smtClean="0"/>
              <a:t>‹#›</a:t>
            </a:fld>
            <a:endParaRPr lang="en-US"/>
          </a:p>
        </p:txBody>
      </p:sp>
    </p:spTree>
    <p:extLst>
      <p:ext uri="{BB962C8B-B14F-4D97-AF65-F5344CB8AC3E}">
        <p14:creationId xmlns:p14="http://schemas.microsoft.com/office/powerpoint/2010/main" val="116538259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en-US"/>
              <a:t>Click to edit Master title style</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0C36CF24-FED6-4238-A2DF-C063365C4DEE}" type="datetimeFigureOut">
              <a:rPr lang="en-US" smtClean="0"/>
              <a:t>3/23/2025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010A995-D226-4A49-997F-85BD1158C0A8}" type="slidenum">
              <a:rPr lang="en-US" smtClean="0"/>
              <a:t>‹#›</a:t>
            </a:fld>
            <a:endParaRPr lang="en-US"/>
          </a:p>
        </p:txBody>
      </p:sp>
    </p:spTree>
    <p:extLst>
      <p:ext uri="{BB962C8B-B14F-4D97-AF65-F5344CB8AC3E}">
        <p14:creationId xmlns:p14="http://schemas.microsoft.com/office/powerpoint/2010/main" val="46562471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en-US"/>
              <a:t>Click to edit Master title style</a:t>
            </a:r>
            <a:endParaRPr lang="en-US" dirty="0"/>
          </a:p>
        </p:txBody>
      </p:sp>
      <p:sp>
        <p:nvSpPr>
          <p:cNvPr id="11" name="Text Placeholder 3"/>
          <p:cNvSpPr>
            <a:spLocks noGrp="1"/>
          </p:cNvSpPr>
          <p:nvPr>
            <p:ph type="body" sz="half" idx="14"/>
          </p:nvPr>
        </p:nvSpPr>
        <p:spPr>
          <a:xfrm>
            <a:off x="1930400" y="3771174"/>
            <a:ext cx="7279649" cy="342174"/>
          </a:xfrm>
        </p:spPr>
        <p:txBody>
          <a:bodyPr vert="horz" lIns="91440" tIns="45720" rIns="91440" bIns="45720" rtlCol="0" anchor="t">
            <a:normAutofit/>
          </a:bodyPr>
          <a:lstStyle>
            <a:lvl1pPr marL="0" indent="0">
              <a:buNone/>
              <a:defRPr lang="en-US" sz="1400" b="0" i="0" kern="1200" cap="small" dirty="0">
                <a:solidFill>
                  <a:schemeClr val="bg2">
                    <a:lumMod val="40000"/>
                    <a:lumOff val="6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buNone/>
            </a:pPr>
            <a:r>
              <a:rPr lang="en-US"/>
              <a:t>Click to edit Master text styles</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0C36CF24-FED6-4238-A2DF-C063365C4DEE}" type="datetimeFigureOut">
              <a:rPr lang="en-US" smtClean="0"/>
              <a:t>3/23/2025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010A995-D226-4A49-997F-85BD1158C0A8}" type="slidenum">
              <a:rPr lang="en-US" smtClean="0"/>
              <a:t>‹#›</a:t>
            </a:fld>
            <a:endParaRPr lang="en-US"/>
          </a:p>
        </p:txBody>
      </p:sp>
      <p:sp>
        <p:nvSpPr>
          <p:cNvPr id="12" name="TextBox 11"/>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
        <p:nvSpPr>
          <p:cNvPr id="15" name="TextBox 14"/>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Tree>
    <p:extLst>
      <p:ext uri="{BB962C8B-B14F-4D97-AF65-F5344CB8AC3E}">
        <p14:creationId xmlns:p14="http://schemas.microsoft.com/office/powerpoint/2010/main" val="853928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60" cy="165318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4777381"/>
            <a:ext cx="8825659" cy="860400"/>
          </a:xfrm>
        </p:spPr>
        <p:txBody>
          <a:bodyPr anchor="t"/>
          <a:lstStyle>
            <a:lvl1pPr marL="0" indent="0" algn="l">
              <a:buNone/>
              <a:defRPr sz="2000" cap="none">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C36CF24-FED6-4238-A2DF-C063365C4DEE}" type="datetimeFigureOut">
              <a:rPr lang="en-US" smtClean="0"/>
              <a:t>3/23/2025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010A995-D226-4A49-997F-85BD1158C0A8}" type="slidenum">
              <a:rPr lang="en-US" smtClean="0"/>
              <a:t>‹#›</a:t>
            </a:fld>
            <a:endParaRPr lang="en-US"/>
          </a:p>
        </p:txBody>
      </p:sp>
    </p:spTree>
    <p:extLst>
      <p:ext uri="{BB962C8B-B14F-4D97-AF65-F5344CB8AC3E}">
        <p14:creationId xmlns:p14="http://schemas.microsoft.com/office/powerpoint/2010/main" val="49517307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0C36CF24-FED6-4238-A2DF-C063365C4DEE}" type="datetimeFigureOut">
              <a:rPr lang="en-US" smtClean="0"/>
              <a:t>3/23/2025</a:t>
            </a:fld>
            <a:endParaRPr lang="en-US"/>
          </a:p>
        </p:txBody>
      </p:sp>
      <p:sp>
        <p:nvSpPr>
          <p:cNvPr id="4"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010A995-D226-4A49-997F-85BD1158C0A8}" type="slidenum">
              <a:rPr lang="en-US" smtClean="0"/>
              <a:t>‹#›</a:t>
            </a:fld>
            <a:endParaRPr lang="en-US"/>
          </a:p>
        </p:txBody>
      </p:sp>
    </p:spTree>
    <p:extLst>
      <p:ext uri="{BB962C8B-B14F-4D97-AF65-F5344CB8AC3E}">
        <p14:creationId xmlns:p14="http://schemas.microsoft.com/office/powerpoint/2010/main" val="328158216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9" name="Straight Connector 18"/>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0C36CF24-FED6-4238-A2DF-C063365C4DEE}" type="datetimeFigureOut">
              <a:rPr lang="en-US" smtClean="0"/>
              <a:t>3/23/2025</a:t>
            </a:fld>
            <a:endParaRPr lang="en-US"/>
          </a:p>
        </p:txBody>
      </p:sp>
      <p:sp>
        <p:nvSpPr>
          <p:cNvPr id="4"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010A995-D226-4A49-997F-85BD1158C0A8}" type="slidenum">
              <a:rPr lang="en-US" smtClean="0"/>
              <a:t>‹#›</a:t>
            </a:fld>
            <a:endParaRPr lang="en-US"/>
          </a:p>
        </p:txBody>
      </p:sp>
    </p:spTree>
    <p:extLst>
      <p:ext uri="{BB962C8B-B14F-4D97-AF65-F5344CB8AC3E}">
        <p14:creationId xmlns:p14="http://schemas.microsoft.com/office/powerpoint/2010/main" val="323289269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C36CF24-FED6-4238-A2DF-C063365C4DEE}" type="datetimeFigureOut">
              <a:rPr lang="en-US" smtClean="0"/>
              <a:t>3/23/2025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010A995-D226-4A49-997F-85BD1158C0A8}" type="slidenum">
              <a:rPr lang="en-US" smtClean="0"/>
              <a:t>‹#›</a:t>
            </a:fld>
            <a:endParaRPr lang="en-US"/>
          </a:p>
        </p:txBody>
      </p:sp>
    </p:spTree>
    <p:extLst>
      <p:ext uri="{BB962C8B-B14F-4D97-AF65-F5344CB8AC3E}">
        <p14:creationId xmlns:p14="http://schemas.microsoft.com/office/powerpoint/2010/main" val="268645287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C36CF24-FED6-4238-A2DF-C063365C4DEE}" type="datetimeFigureOut">
              <a:rPr lang="en-US" smtClean="0"/>
              <a:t>3/23/2025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010A995-D226-4A49-997F-85BD1158C0A8}" type="slidenum">
              <a:rPr lang="en-US" smtClean="0"/>
              <a:t>‹#›</a:t>
            </a:fld>
            <a:endParaRPr lang="en-US"/>
          </a:p>
        </p:txBody>
      </p:sp>
    </p:spTree>
    <p:extLst>
      <p:ext uri="{BB962C8B-B14F-4D97-AF65-F5344CB8AC3E}">
        <p14:creationId xmlns:p14="http://schemas.microsoft.com/office/powerpoint/2010/main" val="168862547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7" name="Picture 6"/>
          <p:cNvPicPr>
            <a:picLocks noChangeAspect="1"/>
          </p:cNvPicPr>
          <p:nvPr/>
        </p:nvPicPr>
        <p:blipFill rotWithShape="1">
          <a:blip r:embed="rId20">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9" name="Picture 8"/>
          <p:cNvPicPr>
            <a:picLocks noChangeAspect="1"/>
          </p:cNvPicPr>
          <p:nvPr/>
        </p:nvPicPr>
        <p:blipFill rotWithShape="1">
          <a:blip r:embed="rId21">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2">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0C36CF24-FED6-4238-A2DF-C063365C4DEE}" type="datetimeFigureOut">
              <a:rPr lang="en-US" smtClean="0"/>
              <a:t>3/23/2025</a:t>
            </a:fld>
            <a:endParaRPr lang="en-US"/>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n-US"/>
          </a:p>
        </p:txBody>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7010A995-D226-4A49-997F-85BD1158C0A8}" type="slidenum">
              <a:rPr lang="en-US" smtClean="0"/>
              <a:t>‹#›</a:t>
            </a:fld>
            <a:endParaRPr lang="en-US"/>
          </a:p>
        </p:txBody>
      </p:sp>
    </p:spTree>
    <p:extLst>
      <p:ext uri="{BB962C8B-B14F-4D97-AF65-F5344CB8AC3E}">
        <p14:creationId xmlns:p14="http://schemas.microsoft.com/office/powerpoint/2010/main" val="787780448"/>
      </p:ext>
    </p:extLst>
  </p:cSld>
  <p:clrMap bg1="dk1" tx1="lt1" bg2="dk2" tx2="lt2" accent1="accent1" accent2="accent2" accent3="accent3" accent4="accent4" accent5="accent5" accent6="accent6" hlink="hlink" folHlink="folHlink"/>
  <p:sldLayoutIdLst>
    <p:sldLayoutId id="2147483678" r:id="rId1"/>
    <p:sldLayoutId id="2147483679" r:id="rId2"/>
    <p:sldLayoutId id="2147483680" r:id="rId3"/>
    <p:sldLayoutId id="2147483681" r:id="rId4"/>
    <p:sldLayoutId id="2147483682" r:id="rId5"/>
    <p:sldLayoutId id="2147483683" r:id="rId6"/>
    <p:sldLayoutId id="2147483684" r:id="rId7"/>
    <p:sldLayoutId id="2147483685" r:id="rId8"/>
    <p:sldLayoutId id="2147483686" r:id="rId9"/>
    <p:sldLayoutId id="2147483687" r:id="rId10"/>
    <p:sldLayoutId id="2147483688" r:id="rId11"/>
    <p:sldLayoutId id="2147483689" r:id="rId12"/>
    <p:sldLayoutId id="2147483690" r:id="rId13"/>
    <p:sldLayoutId id="2147483691" r:id="rId14"/>
    <p:sldLayoutId id="2147483692" r:id="rId15"/>
    <p:sldLayoutId id="2147483693" r:id="rId16"/>
    <p:sldLayoutId id="2147483694" r:id="rId17"/>
  </p:sldLayoutIdLst>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8.jpeg"/><Relationship Id="rId7" Type="http://schemas.openxmlformats.org/officeDocument/2006/relationships/image" Target="../media/image12.png"/><Relationship Id="rId2" Type="http://schemas.openxmlformats.org/officeDocument/2006/relationships/image" Target="../media/image7.jpeg"/><Relationship Id="rId1" Type="http://schemas.openxmlformats.org/officeDocument/2006/relationships/slideLayout" Target="../slideLayouts/slideLayout2.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1A3FFB-76C4-4FA5-B299-AB4902B072DE}"/>
              </a:ext>
            </a:extLst>
          </p:cNvPr>
          <p:cNvSpPr>
            <a:spLocks noGrp="1"/>
          </p:cNvSpPr>
          <p:nvPr>
            <p:ph type="ctrTitle"/>
          </p:nvPr>
        </p:nvSpPr>
        <p:spPr>
          <a:xfrm>
            <a:off x="798990" y="1275274"/>
            <a:ext cx="8744505" cy="739957"/>
          </a:xfrm>
        </p:spPr>
        <p:txBody>
          <a:bodyPr/>
          <a:lstStyle/>
          <a:p>
            <a:pPr algn="ctr"/>
            <a:r>
              <a:rPr lang="en-US" sz="2400" b="1" dirty="0">
                <a:latin typeface="Times New Roman" panose="02020603050405020304" pitchFamily="18" charset="0"/>
                <a:cs typeface="Times New Roman" panose="02020603050405020304" pitchFamily="18" charset="0"/>
              </a:rPr>
              <a:t>ML23/24-09 Approve Prediction of Multisequence Learning </a:t>
            </a:r>
            <a:endParaRPr lang="en-US" sz="2400" b="1" dirty="0"/>
          </a:p>
        </p:txBody>
      </p:sp>
      <p:sp>
        <p:nvSpPr>
          <p:cNvPr id="3" name="Subtitle 2">
            <a:extLst>
              <a:ext uri="{FF2B5EF4-FFF2-40B4-BE49-F238E27FC236}">
                <a16:creationId xmlns:a16="http://schemas.microsoft.com/office/drawing/2014/main" id="{AB39FC38-531A-4952-ACC5-C5F5191749CF}"/>
              </a:ext>
            </a:extLst>
          </p:cNvPr>
          <p:cNvSpPr>
            <a:spLocks noGrp="1"/>
          </p:cNvSpPr>
          <p:nvPr>
            <p:ph type="subTitle" idx="1"/>
          </p:nvPr>
        </p:nvSpPr>
        <p:spPr>
          <a:xfrm>
            <a:off x="1507067" y="2432482"/>
            <a:ext cx="7766936" cy="3364636"/>
          </a:xfrm>
        </p:spPr>
        <p:txBody>
          <a:bodyPr>
            <a:normAutofit lnSpcReduction="10000"/>
          </a:bodyPr>
          <a:lstStyle/>
          <a:p>
            <a:pPr algn="ctr"/>
            <a:r>
              <a:rPr lang="en-US" b="1" dirty="0">
                <a:solidFill>
                  <a:schemeClr val="tx1"/>
                </a:solidFill>
                <a:latin typeface="Times New Roman" panose="02020603050405020304" pitchFamily="18" charset="0"/>
                <a:cs typeface="Times New Roman" panose="02020603050405020304" pitchFamily="18" charset="0"/>
              </a:rPr>
              <a:t>Course:  Software Engineering</a:t>
            </a:r>
          </a:p>
          <a:p>
            <a:pPr algn="ctr"/>
            <a:r>
              <a:rPr lang="en-US" b="1" dirty="0">
                <a:solidFill>
                  <a:schemeClr val="tx1"/>
                </a:solidFill>
                <a:latin typeface="Times New Roman" panose="02020603050405020304" pitchFamily="18" charset="0"/>
                <a:cs typeface="Times New Roman" panose="02020603050405020304" pitchFamily="18" charset="0"/>
              </a:rPr>
              <a:t>Lecturer: Damir Dobric / Andreas Pech</a:t>
            </a:r>
          </a:p>
          <a:p>
            <a:pPr algn="l"/>
            <a:endParaRPr lang="en-US" b="1" i="1" u="sng" dirty="0">
              <a:solidFill>
                <a:schemeClr val="tx1"/>
              </a:solidFill>
              <a:latin typeface="Times New Roman" panose="02020603050405020304" pitchFamily="18" charset="0"/>
              <a:cs typeface="Times New Roman" panose="02020603050405020304" pitchFamily="18" charset="0"/>
            </a:endParaRPr>
          </a:p>
          <a:p>
            <a:pPr algn="l"/>
            <a:r>
              <a:rPr lang="en-US" b="1" i="1" dirty="0">
                <a:solidFill>
                  <a:schemeClr val="tx1"/>
                </a:solidFill>
                <a:latin typeface="Times New Roman" panose="02020603050405020304" pitchFamily="18" charset="0"/>
                <a:cs typeface="Times New Roman" panose="02020603050405020304" pitchFamily="18" charset="0"/>
              </a:rPr>
              <a:t>Presented by:</a:t>
            </a:r>
          </a:p>
          <a:p>
            <a:pPr algn="l"/>
            <a:r>
              <a:rPr lang="de-DE" b="1" i="1" dirty="0">
                <a:solidFill>
                  <a:schemeClr val="tx1"/>
                </a:solidFill>
                <a:latin typeface="Times New Roman" panose="02020603050405020304" pitchFamily="18" charset="0"/>
                <a:cs typeface="Times New Roman" panose="02020603050405020304" pitchFamily="18" charset="0"/>
              </a:rPr>
              <a:t>Mahidul Islam Rana  - 1502217</a:t>
            </a:r>
          </a:p>
          <a:p>
            <a:pPr algn="l"/>
            <a:r>
              <a:rPr lang="de-DE" b="1" i="1" dirty="0">
                <a:solidFill>
                  <a:schemeClr val="tx1"/>
                </a:solidFill>
                <a:latin typeface="Times New Roman" panose="02020603050405020304" pitchFamily="18" charset="0"/>
                <a:cs typeface="Times New Roman" panose="02020603050405020304" pitchFamily="18" charset="0"/>
              </a:rPr>
              <a:t>MD Fazley Rabbe      </a:t>
            </a:r>
            <a:r>
              <a:rPr lang="de-DE" b="1" dirty="0">
                <a:solidFill>
                  <a:schemeClr val="tx1"/>
                </a:solidFill>
                <a:latin typeface="Times New Roman" panose="02020603050405020304" pitchFamily="18" charset="0"/>
                <a:cs typeface="Times New Roman" panose="02020603050405020304" pitchFamily="18" charset="0"/>
              </a:rPr>
              <a:t>- </a:t>
            </a:r>
            <a:r>
              <a:rPr lang="de-DE" b="1" i="1" dirty="0">
                <a:solidFill>
                  <a:schemeClr val="tx1"/>
                </a:solidFill>
                <a:latin typeface="Times New Roman" panose="02020603050405020304" pitchFamily="18" charset="0"/>
                <a:cs typeface="Times New Roman" panose="02020603050405020304" pitchFamily="18" charset="0"/>
              </a:rPr>
              <a:t>1502895</a:t>
            </a:r>
            <a:endParaRPr lang="en-US" b="1" i="1" dirty="0">
              <a:solidFill>
                <a:schemeClr val="tx1"/>
              </a:solidFill>
              <a:latin typeface="Times New Roman" panose="02020603050405020304" pitchFamily="18" charset="0"/>
              <a:cs typeface="Times New Roman" panose="02020603050405020304" pitchFamily="18" charset="0"/>
            </a:endParaRPr>
          </a:p>
          <a:p>
            <a:endParaRPr lang="de-DE" dirty="0"/>
          </a:p>
          <a:p>
            <a:r>
              <a:rPr lang="de-DE" dirty="0">
                <a:solidFill>
                  <a:schemeClr val="tx1"/>
                </a:solidFill>
              </a:rPr>
              <a:t>Date: 23-3-2025</a:t>
            </a:r>
            <a:endParaRPr lang="en-US" dirty="0">
              <a:solidFill>
                <a:schemeClr val="tx1"/>
              </a:solidFill>
            </a:endParaRPr>
          </a:p>
        </p:txBody>
      </p:sp>
      <p:sp>
        <p:nvSpPr>
          <p:cNvPr id="4" name="TextBox 3">
            <a:extLst>
              <a:ext uri="{FF2B5EF4-FFF2-40B4-BE49-F238E27FC236}">
                <a16:creationId xmlns:a16="http://schemas.microsoft.com/office/drawing/2014/main" id="{B3388B96-2FFD-A47E-0318-F7F2A8571E59}"/>
              </a:ext>
            </a:extLst>
          </p:cNvPr>
          <p:cNvSpPr txBox="1"/>
          <p:nvPr/>
        </p:nvSpPr>
        <p:spPr>
          <a:xfrm>
            <a:off x="10573966" y="437744"/>
            <a:ext cx="385042" cy="523220"/>
          </a:xfrm>
          <a:prstGeom prst="rect">
            <a:avLst/>
          </a:prstGeom>
          <a:noFill/>
        </p:spPr>
        <p:txBody>
          <a:bodyPr wrap="none" rtlCol="0">
            <a:spAutoFit/>
          </a:bodyPr>
          <a:lstStyle/>
          <a:p>
            <a:r>
              <a:rPr lang="en-US" sz="2800" b="1" dirty="0"/>
              <a:t>1</a:t>
            </a:r>
            <a:endParaRPr lang="en-US" b="1" dirty="0"/>
          </a:p>
        </p:txBody>
      </p:sp>
    </p:spTree>
    <p:extLst>
      <p:ext uri="{BB962C8B-B14F-4D97-AF65-F5344CB8AC3E}">
        <p14:creationId xmlns:p14="http://schemas.microsoft.com/office/powerpoint/2010/main" val="128557636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1A3641-2C42-4278-A43D-2AA6CCE2C39F}"/>
              </a:ext>
            </a:extLst>
          </p:cNvPr>
          <p:cNvSpPr>
            <a:spLocks noGrp="1"/>
          </p:cNvSpPr>
          <p:nvPr>
            <p:ph type="title"/>
          </p:nvPr>
        </p:nvSpPr>
        <p:spPr>
          <a:xfrm>
            <a:off x="677334" y="609600"/>
            <a:ext cx="8596668" cy="943992"/>
          </a:xfrm>
        </p:spPr>
        <p:txBody>
          <a:bodyPr/>
          <a:lstStyle/>
          <a:p>
            <a:r>
              <a:rPr lang="en-PK" dirty="0">
                <a:latin typeface="Times New Roman" panose="02020603050405020304" pitchFamily="18" charset="0"/>
                <a:cs typeface="Times New Roman" panose="02020603050405020304" pitchFamily="18" charset="0"/>
              </a:rPr>
              <a:t> </a:t>
            </a:r>
            <a:r>
              <a:rPr lang="en-PK" sz="2800" b="1" dirty="0">
                <a:latin typeface="Times New Roman" panose="02020603050405020304" pitchFamily="18" charset="0"/>
                <a:cs typeface="Times New Roman" panose="02020603050405020304" pitchFamily="18" charset="0"/>
              </a:rPr>
              <a:t>OBJECTIVE</a:t>
            </a:r>
            <a:endParaRPr lang="en-US" sz="2800" b="1" dirty="0"/>
          </a:p>
        </p:txBody>
      </p:sp>
      <p:sp>
        <p:nvSpPr>
          <p:cNvPr id="3" name="Content Placeholder 2">
            <a:extLst>
              <a:ext uri="{FF2B5EF4-FFF2-40B4-BE49-F238E27FC236}">
                <a16:creationId xmlns:a16="http://schemas.microsoft.com/office/drawing/2014/main" id="{84CC8A48-56CF-4957-8E35-5F42BF080E86}"/>
              </a:ext>
            </a:extLst>
          </p:cNvPr>
          <p:cNvSpPr>
            <a:spLocks noGrp="1"/>
          </p:cNvSpPr>
          <p:nvPr>
            <p:ph idx="1"/>
          </p:nvPr>
        </p:nvSpPr>
        <p:spPr>
          <a:xfrm>
            <a:off x="846009" y="1651248"/>
            <a:ext cx="8596668" cy="4234647"/>
          </a:xfrm>
        </p:spPr>
        <p:txBody>
          <a:bodyPr/>
          <a:lstStyle/>
          <a:p>
            <a:pPr marL="0" indent="0">
              <a:buNone/>
            </a:pPr>
            <a:r>
              <a:rPr lang="de-DE" b="1" dirty="0"/>
              <a:t>1. </a:t>
            </a:r>
            <a:r>
              <a:rPr lang="en-US" b="1" dirty="0"/>
              <a:t>Main Objective:</a:t>
            </a:r>
          </a:p>
          <a:p>
            <a:pPr>
              <a:buFont typeface="Wingdings" panose="05000000000000000000" pitchFamily="2" charset="2"/>
              <a:buChar char="Ø"/>
            </a:pPr>
            <a:r>
              <a:rPr lang="en-US" dirty="0"/>
              <a:t>Outline the primary goal: “To design and implement an HTM-based system that can learn and predict multiple sequences of numeric and character data.”</a:t>
            </a:r>
          </a:p>
          <a:p>
            <a:pPr marL="0" indent="0">
              <a:buNone/>
            </a:pPr>
            <a:r>
              <a:rPr lang="en-US" b="1" dirty="0"/>
              <a:t>2. Specific Aims</a:t>
            </a:r>
          </a:p>
          <a:p>
            <a:pPr>
              <a:buFont typeface="Wingdings" panose="05000000000000000000" pitchFamily="2" charset="2"/>
              <a:buChar char="Ø"/>
            </a:pPr>
            <a:r>
              <a:rPr lang="en-US" altLang="en-US" dirty="0">
                <a:solidFill>
                  <a:schemeClr val="tx1"/>
                </a:solidFill>
                <a:latin typeface="Arial" panose="020B0604020202020204" pitchFamily="34" charset="0"/>
              </a:rPr>
              <a:t>Achieve robust prediction accuracy across different datasets (e.g., cancer, power consumption).</a:t>
            </a:r>
          </a:p>
          <a:p>
            <a:pPr>
              <a:buFont typeface="Wingdings" panose="05000000000000000000" pitchFamily="2" charset="2"/>
              <a:buChar char="Ø"/>
            </a:pPr>
            <a:r>
              <a:rPr lang="en-US" dirty="0"/>
              <a:t>Evaluate how iterative training affects performance.</a:t>
            </a:r>
          </a:p>
          <a:p>
            <a:pPr>
              <a:buFont typeface="Wingdings" panose="05000000000000000000" pitchFamily="2" charset="2"/>
              <a:buChar char="Ø"/>
            </a:pPr>
            <a:r>
              <a:rPr lang="en-US" dirty="0"/>
              <a:t>Demonstrate how simple JSON ingestion can streamline multi-sequence learning.</a:t>
            </a:r>
            <a:endParaRPr lang="de-DE" b="1" dirty="0"/>
          </a:p>
          <a:p>
            <a:pPr marL="0" indent="0">
              <a:buNone/>
            </a:pPr>
            <a:endParaRPr lang="en-US" b="1" dirty="0"/>
          </a:p>
          <a:p>
            <a:pPr marL="0" indent="0">
              <a:buNone/>
            </a:pPr>
            <a:endParaRPr lang="en-US" b="1" dirty="0"/>
          </a:p>
        </p:txBody>
      </p:sp>
      <p:sp>
        <p:nvSpPr>
          <p:cNvPr id="4" name="TextBox 3">
            <a:extLst>
              <a:ext uri="{FF2B5EF4-FFF2-40B4-BE49-F238E27FC236}">
                <a16:creationId xmlns:a16="http://schemas.microsoft.com/office/drawing/2014/main" id="{1A98558E-4C94-82C5-AFDE-FC753296C0EC}"/>
              </a:ext>
            </a:extLst>
          </p:cNvPr>
          <p:cNvSpPr txBox="1"/>
          <p:nvPr/>
        </p:nvSpPr>
        <p:spPr>
          <a:xfrm>
            <a:off x="10573966" y="437744"/>
            <a:ext cx="385042" cy="523220"/>
          </a:xfrm>
          <a:prstGeom prst="rect">
            <a:avLst/>
          </a:prstGeom>
          <a:noFill/>
        </p:spPr>
        <p:txBody>
          <a:bodyPr wrap="none" rtlCol="0">
            <a:spAutoFit/>
          </a:bodyPr>
          <a:lstStyle/>
          <a:p>
            <a:r>
              <a:rPr lang="en-US" sz="2800" b="1" dirty="0"/>
              <a:t>2</a:t>
            </a:r>
            <a:endParaRPr lang="en-US" b="1" dirty="0"/>
          </a:p>
        </p:txBody>
      </p:sp>
    </p:spTree>
    <p:extLst>
      <p:ext uri="{BB962C8B-B14F-4D97-AF65-F5344CB8AC3E}">
        <p14:creationId xmlns:p14="http://schemas.microsoft.com/office/powerpoint/2010/main" val="207297653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C6505C-9C52-4CED-81F4-4461EAA0EB8A}"/>
              </a:ext>
            </a:extLst>
          </p:cNvPr>
          <p:cNvSpPr>
            <a:spLocks noGrp="1"/>
          </p:cNvSpPr>
          <p:nvPr>
            <p:ph type="title"/>
          </p:nvPr>
        </p:nvSpPr>
        <p:spPr>
          <a:xfrm>
            <a:off x="677334" y="609600"/>
            <a:ext cx="8596668" cy="899604"/>
          </a:xfrm>
        </p:spPr>
        <p:txBody>
          <a:bodyPr>
            <a:normAutofit/>
          </a:bodyPr>
          <a:lstStyle/>
          <a:p>
            <a:r>
              <a:rPr lang="en-GB" sz="2800" b="1" dirty="0">
                <a:latin typeface="Times New Roman" panose="02020603050405020304" pitchFamily="18" charset="0"/>
                <a:cs typeface="Times New Roman" panose="02020603050405020304" pitchFamily="18" charset="0"/>
              </a:rPr>
              <a:t>T</a:t>
            </a:r>
            <a:r>
              <a:rPr lang="en-PK" sz="2800" b="1" dirty="0">
                <a:latin typeface="Times New Roman" panose="02020603050405020304" pitchFamily="18" charset="0"/>
                <a:cs typeface="Times New Roman" panose="02020603050405020304" pitchFamily="18" charset="0"/>
              </a:rPr>
              <a:t>ABLE OF CONTENT</a:t>
            </a:r>
            <a:endParaRPr lang="en-US" sz="2800" b="1" dirty="0"/>
          </a:p>
        </p:txBody>
      </p:sp>
      <p:sp>
        <p:nvSpPr>
          <p:cNvPr id="3" name="Content Placeholder 2">
            <a:extLst>
              <a:ext uri="{FF2B5EF4-FFF2-40B4-BE49-F238E27FC236}">
                <a16:creationId xmlns:a16="http://schemas.microsoft.com/office/drawing/2014/main" id="{574B36CD-32FD-46A0-AA23-69C39B95AA9A}"/>
              </a:ext>
            </a:extLst>
          </p:cNvPr>
          <p:cNvSpPr>
            <a:spLocks noGrp="1"/>
          </p:cNvSpPr>
          <p:nvPr>
            <p:ph idx="1"/>
          </p:nvPr>
        </p:nvSpPr>
        <p:spPr>
          <a:xfrm>
            <a:off x="677334" y="1592418"/>
            <a:ext cx="8596668" cy="3880773"/>
          </a:xfrm>
        </p:spPr>
        <p:txBody>
          <a:bodyPr/>
          <a:lstStyle/>
          <a:p>
            <a:r>
              <a:rPr lang="en-GB" dirty="0">
                <a:latin typeface="Times New Roman" panose="02020603050405020304" pitchFamily="18" charset="0"/>
                <a:cs typeface="Times New Roman" panose="02020603050405020304" pitchFamily="18" charset="0"/>
              </a:rPr>
              <a:t>INTRODUCTION </a:t>
            </a:r>
          </a:p>
          <a:p>
            <a:r>
              <a:rPr lang="en-PK" dirty="0">
                <a:latin typeface="Times New Roman" panose="02020603050405020304" pitchFamily="18" charset="0"/>
                <a:cs typeface="Times New Roman" panose="02020603050405020304" pitchFamily="18" charset="0"/>
              </a:rPr>
              <a:t>HTM</a:t>
            </a:r>
            <a:endParaRPr lang="en-GB" dirty="0">
              <a:latin typeface="Times New Roman" panose="02020603050405020304" pitchFamily="18" charset="0"/>
              <a:cs typeface="Times New Roman" panose="02020603050405020304" pitchFamily="18" charset="0"/>
            </a:endParaRPr>
          </a:p>
          <a:p>
            <a:r>
              <a:rPr lang="en-GB" dirty="0">
                <a:latin typeface="Times New Roman" panose="02020603050405020304" pitchFamily="18" charset="0"/>
                <a:cs typeface="Times New Roman" panose="02020603050405020304" pitchFamily="18" charset="0"/>
              </a:rPr>
              <a:t>METHODOLOGY</a:t>
            </a:r>
            <a:endParaRPr lang="en-PK" dirty="0">
              <a:latin typeface="Times New Roman" panose="02020603050405020304" pitchFamily="18" charset="0"/>
              <a:cs typeface="Times New Roman" panose="02020603050405020304" pitchFamily="18" charset="0"/>
            </a:endParaRPr>
          </a:p>
          <a:p>
            <a:r>
              <a:rPr lang="en-GB" dirty="0">
                <a:latin typeface="Times New Roman" panose="02020603050405020304" pitchFamily="18" charset="0"/>
                <a:cs typeface="Times New Roman" panose="02020603050405020304" pitchFamily="18" charset="0"/>
              </a:rPr>
              <a:t>IMPLEMENTATION (LEARNING &amp; PREDICTION STAGES)</a:t>
            </a:r>
          </a:p>
          <a:p>
            <a:r>
              <a:rPr lang="en-GB" dirty="0">
                <a:latin typeface="Times New Roman" panose="02020603050405020304" pitchFamily="18" charset="0"/>
                <a:cs typeface="Times New Roman" panose="02020603050405020304" pitchFamily="18" charset="0"/>
              </a:rPr>
              <a:t>RESULTS</a:t>
            </a:r>
          </a:p>
          <a:p>
            <a:r>
              <a:rPr lang="en-PK" dirty="0">
                <a:latin typeface="Times New Roman" panose="02020603050405020304" pitchFamily="18" charset="0"/>
                <a:cs typeface="Times New Roman" panose="02020603050405020304" pitchFamily="18" charset="0"/>
              </a:rPr>
              <a:t>CONCLUSION</a:t>
            </a:r>
          </a:p>
          <a:p>
            <a:r>
              <a:rPr lang="en-PK" dirty="0">
                <a:latin typeface="Times New Roman" panose="02020603050405020304" pitchFamily="18" charset="0"/>
                <a:cs typeface="Times New Roman" panose="02020603050405020304" pitchFamily="18" charset="0"/>
              </a:rPr>
              <a:t>REFERENCE</a:t>
            </a:r>
            <a:endParaRPr lang="en-DE" dirty="0">
              <a:latin typeface="Times New Roman" panose="02020603050405020304" pitchFamily="18" charset="0"/>
              <a:cs typeface="Times New Roman" panose="02020603050405020304" pitchFamily="18" charset="0"/>
            </a:endParaRPr>
          </a:p>
          <a:p>
            <a:pPr marL="0" indent="0">
              <a:buNone/>
            </a:pPr>
            <a:endParaRPr lang="en-US" dirty="0"/>
          </a:p>
        </p:txBody>
      </p:sp>
      <p:sp>
        <p:nvSpPr>
          <p:cNvPr id="4" name="TextBox 3">
            <a:extLst>
              <a:ext uri="{FF2B5EF4-FFF2-40B4-BE49-F238E27FC236}">
                <a16:creationId xmlns:a16="http://schemas.microsoft.com/office/drawing/2014/main" id="{B9FFDCF4-20CF-755D-A0FC-98170F71208A}"/>
              </a:ext>
            </a:extLst>
          </p:cNvPr>
          <p:cNvSpPr txBox="1"/>
          <p:nvPr/>
        </p:nvSpPr>
        <p:spPr>
          <a:xfrm>
            <a:off x="10573966" y="437744"/>
            <a:ext cx="385042" cy="523220"/>
          </a:xfrm>
          <a:prstGeom prst="rect">
            <a:avLst/>
          </a:prstGeom>
          <a:noFill/>
        </p:spPr>
        <p:txBody>
          <a:bodyPr wrap="none" rtlCol="0">
            <a:spAutoFit/>
          </a:bodyPr>
          <a:lstStyle/>
          <a:p>
            <a:r>
              <a:rPr lang="en-US" sz="2800" b="1" dirty="0"/>
              <a:t>3</a:t>
            </a:r>
            <a:endParaRPr lang="en-US" b="1" dirty="0"/>
          </a:p>
        </p:txBody>
      </p:sp>
    </p:spTree>
    <p:extLst>
      <p:ext uri="{BB962C8B-B14F-4D97-AF65-F5344CB8AC3E}">
        <p14:creationId xmlns:p14="http://schemas.microsoft.com/office/powerpoint/2010/main" val="207404170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02B1A1-810D-49AB-9458-8F929EA1AEA2}"/>
              </a:ext>
            </a:extLst>
          </p:cNvPr>
          <p:cNvSpPr>
            <a:spLocks noGrp="1"/>
          </p:cNvSpPr>
          <p:nvPr>
            <p:ph type="title"/>
          </p:nvPr>
        </p:nvSpPr>
        <p:spPr>
          <a:xfrm>
            <a:off x="677334" y="609600"/>
            <a:ext cx="8596668" cy="562252"/>
          </a:xfrm>
        </p:spPr>
        <p:txBody>
          <a:bodyPr>
            <a:normAutofit/>
          </a:bodyPr>
          <a:lstStyle/>
          <a:p>
            <a:r>
              <a:rPr lang="de-DE" sz="2800" b="1" dirty="0">
                <a:latin typeface="Times New Roman" panose="02020603050405020304" pitchFamily="18" charset="0"/>
                <a:cs typeface="Times New Roman" panose="02020603050405020304" pitchFamily="18" charset="0"/>
              </a:rPr>
              <a:t>I</a:t>
            </a:r>
            <a:r>
              <a:rPr lang="en-PK" sz="2800" b="1" dirty="0">
                <a:latin typeface="Times New Roman" panose="02020603050405020304" pitchFamily="18" charset="0"/>
                <a:cs typeface="Times New Roman" panose="02020603050405020304" pitchFamily="18" charset="0"/>
              </a:rPr>
              <a:t>NTRODUCTION</a:t>
            </a:r>
            <a:endParaRPr lang="en-US" sz="2800" b="1" dirty="0"/>
          </a:p>
        </p:txBody>
      </p:sp>
      <p:sp>
        <p:nvSpPr>
          <p:cNvPr id="5" name="Rectangle 2">
            <a:extLst>
              <a:ext uri="{FF2B5EF4-FFF2-40B4-BE49-F238E27FC236}">
                <a16:creationId xmlns:a16="http://schemas.microsoft.com/office/drawing/2014/main" id="{3BB60022-780E-4C4F-97BC-CC9DD94FD32D}"/>
              </a:ext>
            </a:extLst>
          </p:cNvPr>
          <p:cNvSpPr>
            <a:spLocks noGrp="1" noChangeArrowheads="1"/>
          </p:cNvSpPr>
          <p:nvPr>
            <p:ph idx="1"/>
          </p:nvPr>
        </p:nvSpPr>
        <p:spPr bwMode="auto">
          <a:xfrm>
            <a:off x="733231" y="1553941"/>
            <a:ext cx="9037499" cy="28623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800" b="0" i="0" u="none" strike="noStrike" cap="none" normalizeH="0" baseline="0" dirty="0">
                <a:ln>
                  <a:noFill/>
                </a:ln>
                <a:solidFill>
                  <a:schemeClr val="tx1"/>
                </a:solidFill>
                <a:effectLst/>
                <a:latin typeface="Arial" panose="020B0604020202020204" pitchFamily="34" charset="0"/>
              </a:rPr>
              <a:t>HTM learns and predicts patterns from multiple time-series sequences.</a:t>
            </a: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800" b="0" i="0" u="none" strike="noStrike" cap="none" normalizeH="0" baseline="0" dirty="0">
                <a:ln>
                  <a:noFill/>
                </a:ln>
                <a:solidFill>
                  <a:schemeClr val="tx1"/>
                </a:solidFill>
                <a:effectLst/>
                <a:latin typeface="Arial" panose="020B0604020202020204" pitchFamily="34" charset="0"/>
              </a:rPr>
              <a:t>JSON files feed data into a scalar encoder to create SDRs, preserving numeric/character ranges and sequence order.</a:t>
            </a: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800" b="0" i="0" u="none" strike="noStrike" cap="none" normalizeH="0" baseline="0" dirty="0">
                <a:ln>
                  <a:noFill/>
                </a:ln>
                <a:solidFill>
                  <a:schemeClr val="tx1"/>
                </a:solidFill>
                <a:effectLst/>
                <a:latin typeface="Arial" panose="020B0604020202020204" pitchFamily="34" charset="0"/>
              </a:rPr>
              <a:t>Spatial Pooler extracts stable representations; Temporal Memory captures sequential dependencies.</a:t>
            </a: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800" b="0" i="0" u="none" strike="noStrike" cap="none" normalizeH="0" baseline="0" dirty="0">
                <a:ln>
                  <a:noFill/>
                </a:ln>
                <a:solidFill>
                  <a:schemeClr val="tx1"/>
                </a:solidFill>
                <a:effectLst/>
                <a:latin typeface="Arial" panose="020B0604020202020204" pitchFamily="34" charset="0"/>
              </a:rPr>
              <a:t>Evaluated in cancer prediction and power consumption forecasting, ensuring high prediction accuracy</a:t>
            </a:r>
          </a:p>
        </p:txBody>
      </p:sp>
      <p:sp>
        <p:nvSpPr>
          <p:cNvPr id="3" name="TextBox 2">
            <a:extLst>
              <a:ext uri="{FF2B5EF4-FFF2-40B4-BE49-F238E27FC236}">
                <a16:creationId xmlns:a16="http://schemas.microsoft.com/office/drawing/2014/main" id="{1F269999-0F8F-6105-1999-7060FF026DF6}"/>
              </a:ext>
            </a:extLst>
          </p:cNvPr>
          <p:cNvSpPr txBox="1"/>
          <p:nvPr/>
        </p:nvSpPr>
        <p:spPr>
          <a:xfrm>
            <a:off x="10573966" y="347990"/>
            <a:ext cx="385042" cy="523220"/>
          </a:xfrm>
          <a:prstGeom prst="rect">
            <a:avLst/>
          </a:prstGeom>
          <a:noFill/>
        </p:spPr>
        <p:txBody>
          <a:bodyPr wrap="none" rtlCol="0">
            <a:spAutoFit/>
          </a:bodyPr>
          <a:lstStyle/>
          <a:p>
            <a:r>
              <a:rPr lang="en-US" sz="2800" b="1" dirty="0"/>
              <a:t>4</a:t>
            </a:r>
            <a:endParaRPr lang="en-US" b="1" dirty="0"/>
          </a:p>
        </p:txBody>
      </p:sp>
    </p:spTree>
    <p:extLst>
      <p:ext uri="{BB962C8B-B14F-4D97-AF65-F5344CB8AC3E}">
        <p14:creationId xmlns:p14="http://schemas.microsoft.com/office/powerpoint/2010/main" val="58726029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3A2BD5-23F8-49AD-8974-62C6132D879E}"/>
              </a:ext>
            </a:extLst>
          </p:cNvPr>
          <p:cNvSpPr>
            <a:spLocks noGrp="1"/>
          </p:cNvSpPr>
          <p:nvPr>
            <p:ph type="title"/>
          </p:nvPr>
        </p:nvSpPr>
        <p:spPr>
          <a:xfrm>
            <a:off x="677335" y="0"/>
            <a:ext cx="8596668" cy="1376805"/>
          </a:xfrm>
        </p:spPr>
        <p:txBody>
          <a:bodyPr>
            <a:normAutofit/>
          </a:bodyPr>
          <a:lstStyle/>
          <a:p>
            <a:br>
              <a:rPr lang="en-GB" sz="2800" b="1" dirty="0">
                <a:latin typeface="Times New Roman" panose="02020603050405020304" pitchFamily="18" charset="0"/>
                <a:cs typeface="Times New Roman" panose="02020603050405020304" pitchFamily="18" charset="0"/>
              </a:rPr>
            </a:br>
            <a:r>
              <a:rPr lang="en-GB" sz="2800" b="1" dirty="0">
                <a:latin typeface="Times New Roman" panose="02020603050405020304" pitchFamily="18" charset="0"/>
                <a:cs typeface="Times New Roman" panose="02020603050405020304" pitchFamily="18" charset="0"/>
              </a:rPr>
              <a:t>H</a:t>
            </a:r>
            <a:r>
              <a:rPr lang="en-PK" sz="2800" b="1" dirty="0">
                <a:latin typeface="Times New Roman" panose="02020603050405020304" pitchFamily="18" charset="0"/>
                <a:cs typeface="Times New Roman" panose="02020603050405020304" pitchFamily="18" charset="0"/>
              </a:rPr>
              <a:t>IERARCHICAL </a:t>
            </a:r>
            <a:r>
              <a:rPr lang="en-GB" sz="2800" b="1" dirty="0">
                <a:latin typeface="Times New Roman" panose="02020603050405020304" pitchFamily="18" charset="0"/>
                <a:cs typeface="Times New Roman" panose="02020603050405020304" pitchFamily="18" charset="0"/>
              </a:rPr>
              <a:t>T</a:t>
            </a:r>
            <a:r>
              <a:rPr lang="en-PK" sz="2800" b="1" dirty="0">
                <a:latin typeface="Times New Roman" panose="02020603050405020304" pitchFamily="18" charset="0"/>
                <a:cs typeface="Times New Roman" panose="02020603050405020304" pitchFamily="18" charset="0"/>
              </a:rPr>
              <a:t>EMPORAL</a:t>
            </a:r>
            <a:r>
              <a:rPr lang="en-GB" sz="2800" b="1" dirty="0">
                <a:latin typeface="Times New Roman" panose="02020603050405020304" pitchFamily="18" charset="0"/>
                <a:cs typeface="Times New Roman" panose="02020603050405020304" pitchFamily="18" charset="0"/>
              </a:rPr>
              <a:t> M</a:t>
            </a:r>
            <a:r>
              <a:rPr lang="en-PK" sz="2800" b="1" dirty="0">
                <a:latin typeface="Times New Roman" panose="02020603050405020304" pitchFamily="18" charset="0"/>
                <a:cs typeface="Times New Roman" panose="02020603050405020304" pitchFamily="18" charset="0"/>
              </a:rPr>
              <a:t>EMORY</a:t>
            </a:r>
            <a:r>
              <a:rPr lang="en-GB" sz="2800" b="1" dirty="0">
                <a:latin typeface="Times New Roman" panose="02020603050405020304" pitchFamily="18" charset="0"/>
                <a:cs typeface="Times New Roman" panose="02020603050405020304" pitchFamily="18" charset="0"/>
              </a:rPr>
              <a:t> (HTM)</a:t>
            </a:r>
            <a:endParaRPr lang="en-US" sz="2800" b="1" dirty="0"/>
          </a:p>
        </p:txBody>
      </p:sp>
      <p:sp>
        <p:nvSpPr>
          <p:cNvPr id="4" name="Rectangle 1">
            <a:extLst>
              <a:ext uri="{FF2B5EF4-FFF2-40B4-BE49-F238E27FC236}">
                <a16:creationId xmlns:a16="http://schemas.microsoft.com/office/drawing/2014/main" id="{C574CE8E-19BB-4EA0-8D30-18E1572590BD}"/>
              </a:ext>
            </a:extLst>
          </p:cNvPr>
          <p:cNvSpPr>
            <a:spLocks noGrp="1" noChangeArrowheads="1"/>
          </p:cNvSpPr>
          <p:nvPr>
            <p:ph idx="1"/>
          </p:nvPr>
        </p:nvSpPr>
        <p:spPr bwMode="auto">
          <a:xfrm>
            <a:off x="677335" y="1598747"/>
            <a:ext cx="8297480" cy="25853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q"/>
              <a:tabLst/>
            </a:pPr>
            <a:r>
              <a:rPr kumimoji="0" lang="en-US" altLang="en-US" b="0" i="0" u="none" strike="noStrike" cap="none" normalizeH="0" baseline="0" dirty="0">
                <a:ln>
                  <a:noFill/>
                </a:ln>
                <a:solidFill>
                  <a:schemeClr val="tx1"/>
                </a:solidFill>
                <a:effectLst/>
                <a:latin typeface="Arial" panose="020B0604020202020204" pitchFamily="34" charset="0"/>
              </a:rPr>
              <a:t>HTM is a biomimetic model inspired by the neocortex’s memory prediction principles</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b="0" i="0" u="none" strike="noStrike" cap="none" normalizeH="0" baseline="0" dirty="0">
              <a:ln>
                <a:noFill/>
              </a:ln>
              <a:solidFill>
                <a:schemeClr val="tx1"/>
              </a:solidFill>
              <a:effectLst/>
              <a:latin typeface="Arial" panose="020B0604020202020204" pitchFamily="34" charset="0"/>
            </a:endParaRP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q"/>
              <a:tabLst/>
            </a:pPr>
            <a:r>
              <a:rPr kumimoji="0" lang="en-US" altLang="en-US" b="0" i="0" u="none" strike="noStrike" cap="none" normalizeH="0" baseline="0" dirty="0">
                <a:ln>
                  <a:noFill/>
                </a:ln>
                <a:solidFill>
                  <a:schemeClr val="tx1"/>
                </a:solidFill>
                <a:effectLst/>
                <a:latin typeface="Arial" panose="020B0604020202020204" pitchFamily="34" charset="0"/>
              </a:rPr>
              <a:t>It captures the architectural and algorithmic features of the neocortex.</a:t>
            </a: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q"/>
              <a:tabLst/>
            </a:pPr>
            <a:endParaRPr kumimoji="0" lang="en-US" altLang="en-US" b="0" i="0" u="none" strike="noStrike" cap="none" normalizeH="0" baseline="0" dirty="0">
              <a:ln>
                <a:noFill/>
              </a:ln>
              <a:solidFill>
                <a:schemeClr val="tx1"/>
              </a:solidFill>
              <a:effectLst/>
              <a:latin typeface="Arial" panose="020B0604020202020204" pitchFamily="34" charset="0"/>
            </a:endParaRP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q"/>
              <a:tabLst/>
            </a:pPr>
            <a:r>
              <a:rPr kumimoji="0" lang="en-US" altLang="en-US" b="0" i="0" u="none" strike="noStrike" cap="none" normalizeH="0" baseline="0" dirty="0">
                <a:ln>
                  <a:noFill/>
                </a:ln>
                <a:solidFill>
                  <a:schemeClr val="tx1"/>
                </a:solidFill>
                <a:effectLst/>
                <a:latin typeface="Arial" panose="020B0604020202020204" pitchFamily="34" charset="0"/>
              </a:rPr>
              <a:t>HTM has demonstrated promising results in pattern recognition.</a:t>
            </a: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q"/>
              <a:tabLst/>
            </a:pPr>
            <a:endParaRPr kumimoji="0" lang="en-US" altLang="en-US" b="0" i="0" u="none" strike="noStrike" cap="none" normalizeH="0" baseline="0" dirty="0">
              <a:ln>
                <a:noFill/>
              </a:ln>
              <a:solidFill>
                <a:schemeClr val="tx1"/>
              </a:solidFill>
              <a:effectLst/>
              <a:latin typeface="Arial" panose="020B0604020202020204" pitchFamily="34" charset="0"/>
            </a:endParaRP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q"/>
              <a:tabLst/>
            </a:pPr>
            <a:r>
              <a:rPr kumimoji="0" lang="en-US" altLang="en-US" b="0" i="0" u="none" strike="noStrike" cap="none" normalizeH="0" baseline="0" dirty="0">
                <a:ln>
                  <a:noFill/>
                </a:ln>
                <a:solidFill>
                  <a:schemeClr val="tx1"/>
                </a:solidFill>
                <a:effectLst/>
                <a:latin typeface="Arial" panose="020B0604020202020204" pitchFamily="34" charset="0"/>
              </a:rPr>
              <a:t>It effectively learns both the temporal sequences and spatial dynamics of sensory inputs.</a:t>
            </a:r>
          </a:p>
        </p:txBody>
      </p:sp>
      <p:sp>
        <p:nvSpPr>
          <p:cNvPr id="3" name="TextBox 2">
            <a:extLst>
              <a:ext uri="{FF2B5EF4-FFF2-40B4-BE49-F238E27FC236}">
                <a16:creationId xmlns:a16="http://schemas.microsoft.com/office/drawing/2014/main" id="{C70CC2E6-B5CA-ADB9-AEC9-F0CB33499405}"/>
              </a:ext>
            </a:extLst>
          </p:cNvPr>
          <p:cNvSpPr txBox="1"/>
          <p:nvPr/>
        </p:nvSpPr>
        <p:spPr>
          <a:xfrm>
            <a:off x="10593421" y="330740"/>
            <a:ext cx="385042" cy="523220"/>
          </a:xfrm>
          <a:prstGeom prst="rect">
            <a:avLst/>
          </a:prstGeom>
          <a:noFill/>
        </p:spPr>
        <p:txBody>
          <a:bodyPr wrap="none" rtlCol="0">
            <a:spAutoFit/>
          </a:bodyPr>
          <a:lstStyle/>
          <a:p>
            <a:r>
              <a:rPr lang="en-US" sz="2800" b="1" dirty="0"/>
              <a:t>5</a:t>
            </a:r>
            <a:endParaRPr lang="en-US" b="1" dirty="0"/>
          </a:p>
        </p:txBody>
      </p:sp>
    </p:spTree>
    <p:extLst>
      <p:ext uri="{BB962C8B-B14F-4D97-AF65-F5344CB8AC3E}">
        <p14:creationId xmlns:p14="http://schemas.microsoft.com/office/powerpoint/2010/main" val="207950435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Rounded Corners 4">
            <a:extLst>
              <a:ext uri="{FF2B5EF4-FFF2-40B4-BE49-F238E27FC236}">
                <a16:creationId xmlns:a16="http://schemas.microsoft.com/office/drawing/2014/main" id="{BE931136-AC6D-4CF8-8168-1B498C8F8EDB}"/>
              </a:ext>
            </a:extLst>
          </p:cNvPr>
          <p:cNvSpPr/>
          <p:nvPr/>
        </p:nvSpPr>
        <p:spPr>
          <a:xfrm>
            <a:off x="1467979" y="2693957"/>
            <a:ext cx="816746" cy="400326"/>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de-DE" dirty="0"/>
              <a:t>Start</a:t>
            </a:r>
            <a:endParaRPr lang="en-US" dirty="0"/>
          </a:p>
        </p:txBody>
      </p:sp>
      <p:sp>
        <p:nvSpPr>
          <p:cNvPr id="6" name="Rectangle: Rounded Corners 5">
            <a:extLst>
              <a:ext uri="{FF2B5EF4-FFF2-40B4-BE49-F238E27FC236}">
                <a16:creationId xmlns:a16="http://schemas.microsoft.com/office/drawing/2014/main" id="{C7BB9765-535A-407F-8857-99B166E2453F}"/>
              </a:ext>
            </a:extLst>
          </p:cNvPr>
          <p:cNvSpPr/>
          <p:nvPr/>
        </p:nvSpPr>
        <p:spPr>
          <a:xfrm>
            <a:off x="2765394" y="2589381"/>
            <a:ext cx="1384916" cy="768017"/>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de-DE" dirty="0"/>
              <a:t>Data Ingestion</a:t>
            </a:r>
            <a:endParaRPr lang="en-US" dirty="0"/>
          </a:p>
        </p:txBody>
      </p:sp>
      <p:sp>
        <p:nvSpPr>
          <p:cNvPr id="7" name="Rectangle: Rounded Corners 6">
            <a:extLst>
              <a:ext uri="{FF2B5EF4-FFF2-40B4-BE49-F238E27FC236}">
                <a16:creationId xmlns:a16="http://schemas.microsoft.com/office/drawing/2014/main" id="{B8A092B8-E341-4CF6-9CB2-043A583D69C2}"/>
              </a:ext>
            </a:extLst>
          </p:cNvPr>
          <p:cNvSpPr/>
          <p:nvPr/>
        </p:nvSpPr>
        <p:spPr>
          <a:xfrm>
            <a:off x="4834635" y="2589381"/>
            <a:ext cx="1322772" cy="768017"/>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de-DE" dirty="0"/>
              <a:t>Data Encoding</a:t>
            </a:r>
            <a:endParaRPr lang="en-US" dirty="0"/>
          </a:p>
        </p:txBody>
      </p:sp>
      <p:sp>
        <p:nvSpPr>
          <p:cNvPr id="8" name="Rectangle: Rounded Corners 7">
            <a:extLst>
              <a:ext uri="{FF2B5EF4-FFF2-40B4-BE49-F238E27FC236}">
                <a16:creationId xmlns:a16="http://schemas.microsoft.com/office/drawing/2014/main" id="{0E9281AE-E2CF-4A89-AF27-D7DD819E7F68}"/>
              </a:ext>
            </a:extLst>
          </p:cNvPr>
          <p:cNvSpPr/>
          <p:nvPr/>
        </p:nvSpPr>
        <p:spPr>
          <a:xfrm>
            <a:off x="7000044" y="2581662"/>
            <a:ext cx="1384916" cy="783454"/>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de-DE" dirty="0"/>
              <a:t>Spatial Pooler</a:t>
            </a:r>
            <a:endParaRPr lang="en-US" dirty="0"/>
          </a:p>
        </p:txBody>
      </p:sp>
      <p:sp>
        <p:nvSpPr>
          <p:cNvPr id="9" name="Rectangle: Rounded Corners 8">
            <a:extLst>
              <a:ext uri="{FF2B5EF4-FFF2-40B4-BE49-F238E27FC236}">
                <a16:creationId xmlns:a16="http://schemas.microsoft.com/office/drawing/2014/main" id="{86DBEBD5-6A6D-4ACA-A631-962B0D2A2BD2}"/>
              </a:ext>
            </a:extLst>
          </p:cNvPr>
          <p:cNvSpPr/>
          <p:nvPr/>
        </p:nvSpPr>
        <p:spPr>
          <a:xfrm>
            <a:off x="7105098" y="4569642"/>
            <a:ext cx="1296140" cy="783454"/>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de-DE" dirty="0"/>
              <a:t>Temporal Memory</a:t>
            </a:r>
            <a:endParaRPr lang="en-US" dirty="0"/>
          </a:p>
        </p:txBody>
      </p:sp>
      <p:sp>
        <p:nvSpPr>
          <p:cNvPr id="10" name="Rectangle: Rounded Corners 9">
            <a:extLst>
              <a:ext uri="{FF2B5EF4-FFF2-40B4-BE49-F238E27FC236}">
                <a16:creationId xmlns:a16="http://schemas.microsoft.com/office/drawing/2014/main" id="{F5AD4246-C103-4C81-877B-8796B01F6EE7}"/>
              </a:ext>
            </a:extLst>
          </p:cNvPr>
          <p:cNvSpPr/>
          <p:nvPr/>
        </p:nvSpPr>
        <p:spPr>
          <a:xfrm>
            <a:off x="5041411" y="4577361"/>
            <a:ext cx="1296140" cy="768017"/>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de-DE" dirty="0"/>
              <a:t>Training &amp;Testing</a:t>
            </a:r>
            <a:endParaRPr lang="en-US" dirty="0"/>
          </a:p>
        </p:txBody>
      </p:sp>
      <p:sp>
        <p:nvSpPr>
          <p:cNvPr id="11" name="Rectangle: Rounded Corners 10">
            <a:extLst>
              <a:ext uri="{FF2B5EF4-FFF2-40B4-BE49-F238E27FC236}">
                <a16:creationId xmlns:a16="http://schemas.microsoft.com/office/drawing/2014/main" id="{F5177023-14B6-4061-B217-5B82FE4B1B93}"/>
              </a:ext>
            </a:extLst>
          </p:cNvPr>
          <p:cNvSpPr/>
          <p:nvPr/>
        </p:nvSpPr>
        <p:spPr>
          <a:xfrm>
            <a:off x="2897081" y="4577361"/>
            <a:ext cx="1624614" cy="768017"/>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de-DE" dirty="0"/>
              <a:t>Performance Reporting</a:t>
            </a:r>
            <a:endParaRPr lang="en-US" dirty="0"/>
          </a:p>
        </p:txBody>
      </p:sp>
      <p:sp>
        <p:nvSpPr>
          <p:cNvPr id="12" name="Rectangle: Rounded Corners 11">
            <a:extLst>
              <a:ext uri="{FF2B5EF4-FFF2-40B4-BE49-F238E27FC236}">
                <a16:creationId xmlns:a16="http://schemas.microsoft.com/office/drawing/2014/main" id="{30E1BDB2-63A4-4FEF-AA1D-83C5F26B02E5}"/>
              </a:ext>
            </a:extLst>
          </p:cNvPr>
          <p:cNvSpPr/>
          <p:nvPr/>
        </p:nvSpPr>
        <p:spPr>
          <a:xfrm>
            <a:off x="1245299" y="4725240"/>
            <a:ext cx="1003712" cy="472259"/>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de-DE" dirty="0"/>
              <a:t>End</a:t>
            </a:r>
            <a:endParaRPr lang="en-US" dirty="0"/>
          </a:p>
        </p:txBody>
      </p:sp>
      <p:cxnSp>
        <p:nvCxnSpPr>
          <p:cNvPr id="14" name="Straight Arrow Connector 13">
            <a:extLst>
              <a:ext uri="{FF2B5EF4-FFF2-40B4-BE49-F238E27FC236}">
                <a16:creationId xmlns:a16="http://schemas.microsoft.com/office/drawing/2014/main" id="{F7CEF670-F6F1-4601-8477-4C91C25896BA}"/>
              </a:ext>
            </a:extLst>
          </p:cNvPr>
          <p:cNvCxnSpPr>
            <a:stCxn id="5" idx="3"/>
          </p:cNvCxnSpPr>
          <p:nvPr/>
        </p:nvCxnSpPr>
        <p:spPr>
          <a:xfrm>
            <a:off x="2284725" y="2894120"/>
            <a:ext cx="483618" cy="0"/>
          </a:xfrm>
          <a:prstGeom prst="straightConnector1">
            <a:avLst/>
          </a:prstGeom>
          <a:ln w="19050">
            <a:tailEnd type="triangle"/>
          </a:ln>
        </p:spPr>
        <p:style>
          <a:lnRef idx="1">
            <a:schemeClr val="dk1"/>
          </a:lnRef>
          <a:fillRef idx="0">
            <a:schemeClr val="dk1"/>
          </a:fillRef>
          <a:effectRef idx="0">
            <a:schemeClr val="dk1"/>
          </a:effectRef>
          <a:fontRef idx="minor">
            <a:schemeClr val="tx1"/>
          </a:fontRef>
        </p:style>
      </p:cxnSp>
      <p:cxnSp>
        <p:nvCxnSpPr>
          <p:cNvPr id="16" name="Straight Arrow Connector 15">
            <a:extLst>
              <a:ext uri="{FF2B5EF4-FFF2-40B4-BE49-F238E27FC236}">
                <a16:creationId xmlns:a16="http://schemas.microsoft.com/office/drawing/2014/main" id="{34F6C46E-BE01-4128-AC14-047EB5303141}"/>
              </a:ext>
            </a:extLst>
          </p:cNvPr>
          <p:cNvCxnSpPr>
            <a:stCxn id="6" idx="3"/>
            <a:endCxn id="7" idx="1"/>
          </p:cNvCxnSpPr>
          <p:nvPr/>
        </p:nvCxnSpPr>
        <p:spPr>
          <a:xfrm>
            <a:off x="4150310" y="2973390"/>
            <a:ext cx="684325" cy="0"/>
          </a:xfrm>
          <a:prstGeom prst="straightConnector1">
            <a:avLst/>
          </a:prstGeom>
          <a:ln w="19050">
            <a:tailEnd type="triangle"/>
          </a:ln>
        </p:spPr>
        <p:style>
          <a:lnRef idx="1">
            <a:schemeClr val="dk1"/>
          </a:lnRef>
          <a:fillRef idx="0">
            <a:schemeClr val="dk1"/>
          </a:fillRef>
          <a:effectRef idx="0">
            <a:schemeClr val="dk1"/>
          </a:effectRef>
          <a:fontRef idx="minor">
            <a:schemeClr val="tx1"/>
          </a:fontRef>
        </p:style>
      </p:cxnSp>
      <p:cxnSp>
        <p:nvCxnSpPr>
          <p:cNvPr id="18" name="Straight Arrow Connector 17">
            <a:extLst>
              <a:ext uri="{FF2B5EF4-FFF2-40B4-BE49-F238E27FC236}">
                <a16:creationId xmlns:a16="http://schemas.microsoft.com/office/drawing/2014/main" id="{620C15E1-D4B7-49EC-A44B-BB59B09CC041}"/>
              </a:ext>
            </a:extLst>
          </p:cNvPr>
          <p:cNvCxnSpPr>
            <a:stCxn id="7" idx="3"/>
            <a:endCxn id="8" idx="1"/>
          </p:cNvCxnSpPr>
          <p:nvPr/>
        </p:nvCxnSpPr>
        <p:spPr>
          <a:xfrm flipV="1">
            <a:off x="6157407" y="2973389"/>
            <a:ext cx="842637" cy="1"/>
          </a:xfrm>
          <a:prstGeom prst="straightConnector1">
            <a:avLst/>
          </a:prstGeom>
          <a:ln w="19050">
            <a:tailEnd type="triangle"/>
          </a:ln>
        </p:spPr>
        <p:style>
          <a:lnRef idx="1">
            <a:schemeClr val="dk1"/>
          </a:lnRef>
          <a:fillRef idx="0">
            <a:schemeClr val="dk1"/>
          </a:fillRef>
          <a:effectRef idx="0">
            <a:schemeClr val="dk1"/>
          </a:effectRef>
          <a:fontRef idx="minor">
            <a:schemeClr val="tx1"/>
          </a:fontRef>
        </p:style>
      </p:cxnSp>
      <p:cxnSp>
        <p:nvCxnSpPr>
          <p:cNvPr id="37" name="Straight Arrow Connector 36">
            <a:extLst>
              <a:ext uri="{FF2B5EF4-FFF2-40B4-BE49-F238E27FC236}">
                <a16:creationId xmlns:a16="http://schemas.microsoft.com/office/drawing/2014/main" id="{91560E39-90EF-4A26-ACC5-B50865B9AF74}"/>
              </a:ext>
            </a:extLst>
          </p:cNvPr>
          <p:cNvCxnSpPr>
            <a:stCxn id="8" idx="2"/>
          </p:cNvCxnSpPr>
          <p:nvPr/>
        </p:nvCxnSpPr>
        <p:spPr>
          <a:xfrm>
            <a:off x="7692502" y="3376983"/>
            <a:ext cx="0" cy="1180792"/>
          </a:xfrm>
          <a:prstGeom prst="straightConnector1">
            <a:avLst/>
          </a:prstGeom>
          <a:ln w="19050">
            <a:tailEnd type="triangle"/>
          </a:ln>
        </p:spPr>
        <p:style>
          <a:lnRef idx="1">
            <a:schemeClr val="dk1"/>
          </a:lnRef>
          <a:fillRef idx="0">
            <a:schemeClr val="dk1"/>
          </a:fillRef>
          <a:effectRef idx="0">
            <a:schemeClr val="dk1"/>
          </a:effectRef>
          <a:fontRef idx="minor">
            <a:schemeClr val="tx1"/>
          </a:fontRef>
        </p:style>
      </p:cxnSp>
      <p:cxnSp>
        <p:nvCxnSpPr>
          <p:cNvPr id="43" name="Straight Arrow Connector 42">
            <a:extLst>
              <a:ext uri="{FF2B5EF4-FFF2-40B4-BE49-F238E27FC236}">
                <a16:creationId xmlns:a16="http://schemas.microsoft.com/office/drawing/2014/main" id="{D1609F3D-1AD5-4EB1-9262-56E8399EDCDF}"/>
              </a:ext>
            </a:extLst>
          </p:cNvPr>
          <p:cNvCxnSpPr>
            <a:stCxn id="9" idx="1"/>
          </p:cNvCxnSpPr>
          <p:nvPr/>
        </p:nvCxnSpPr>
        <p:spPr>
          <a:xfrm flipH="1">
            <a:off x="6337551" y="4961369"/>
            <a:ext cx="767547" cy="0"/>
          </a:xfrm>
          <a:prstGeom prst="straightConnector1">
            <a:avLst/>
          </a:prstGeom>
          <a:ln w="19050">
            <a:tailEnd type="triangle"/>
          </a:ln>
        </p:spPr>
        <p:style>
          <a:lnRef idx="1">
            <a:schemeClr val="dk1"/>
          </a:lnRef>
          <a:fillRef idx="0">
            <a:schemeClr val="dk1"/>
          </a:fillRef>
          <a:effectRef idx="0">
            <a:schemeClr val="dk1"/>
          </a:effectRef>
          <a:fontRef idx="minor">
            <a:schemeClr val="tx1"/>
          </a:fontRef>
        </p:style>
      </p:cxnSp>
      <p:cxnSp>
        <p:nvCxnSpPr>
          <p:cNvPr id="45" name="Straight Arrow Connector 44">
            <a:extLst>
              <a:ext uri="{FF2B5EF4-FFF2-40B4-BE49-F238E27FC236}">
                <a16:creationId xmlns:a16="http://schemas.microsoft.com/office/drawing/2014/main" id="{5306A03D-8239-4221-930D-0B8C29D42ED4}"/>
              </a:ext>
            </a:extLst>
          </p:cNvPr>
          <p:cNvCxnSpPr>
            <a:stCxn id="10" idx="1"/>
            <a:endCxn id="11" idx="3"/>
          </p:cNvCxnSpPr>
          <p:nvPr/>
        </p:nvCxnSpPr>
        <p:spPr>
          <a:xfrm flipH="1">
            <a:off x="4521695" y="4961370"/>
            <a:ext cx="519716" cy="0"/>
          </a:xfrm>
          <a:prstGeom prst="straightConnector1">
            <a:avLst/>
          </a:prstGeom>
          <a:ln w="19050">
            <a:tailEnd type="triangle"/>
          </a:ln>
        </p:spPr>
        <p:style>
          <a:lnRef idx="1">
            <a:schemeClr val="dk1"/>
          </a:lnRef>
          <a:fillRef idx="0">
            <a:schemeClr val="dk1"/>
          </a:fillRef>
          <a:effectRef idx="0">
            <a:schemeClr val="dk1"/>
          </a:effectRef>
          <a:fontRef idx="minor">
            <a:schemeClr val="tx1"/>
          </a:fontRef>
        </p:style>
      </p:cxnSp>
      <p:cxnSp>
        <p:nvCxnSpPr>
          <p:cNvPr id="47" name="Straight Arrow Connector 46">
            <a:extLst>
              <a:ext uri="{FF2B5EF4-FFF2-40B4-BE49-F238E27FC236}">
                <a16:creationId xmlns:a16="http://schemas.microsoft.com/office/drawing/2014/main" id="{F1F4B032-19B1-4EED-9982-5136391D0A36}"/>
              </a:ext>
            </a:extLst>
          </p:cNvPr>
          <p:cNvCxnSpPr>
            <a:stCxn id="11" idx="1"/>
            <a:endCxn id="12" idx="3"/>
          </p:cNvCxnSpPr>
          <p:nvPr/>
        </p:nvCxnSpPr>
        <p:spPr>
          <a:xfrm flipH="1">
            <a:off x="2249011" y="4961370"/>
            <a:ext cx="648070" cy="0"/>
          </a:xfrm>
          <a:prstGeom prst="straightConnector1">
            <a:avLst/>
          </a:prstGeom>
          <a:ln w="19050">
            <a:tailEnd type="triangle"/>
          </a:ln>
        </p:spPr>
        <p:style>
          <a:lnRef idx="1">
            <a:schemeClr val="dk1"/>
          </a:lnRef>
          <a:fillRef idx="0">
            <a:schemeClr val="dk1"/>
          </a:fillRef>
          <a:effectRef idx="0">
            <a:schemeClr val="dk1"/>
          </a:effectRef>
          <a:fontRef idx="minor">
            <a:schemeClr val="tx1"/>
          </a:fontRef>
        </p:style>
      </p:cxnSp>
      <p:sp>
        <p:nvSpPr>
          <p:cNvPr id="49" name="Content Placeholder 48">
            <a:extLst>
              <a:ext uri="{FF2B5EF4-FFF2-40B4-BE49-F238E27FC236}">
                <a16:creationId xmlns:a16="http://schemas.microsoft.com/office/drawing/2014/main" id="{59B5180C-A7A2-44F4-8170-878235AEDB44}"/>
              </a:ext>
            </a:extLst>
          </p:cNvPr>
          <p:cNvSpPr>
            <a:spLocks noGrp="1"/>
          </p:cNvSpPr>
          <p:nvPr>
            <p:ph idx="1"/>
          </p:nvPr>
        </p:nvSpPr>
        <p:spPr>
          <a:xfrm>
            <a:off x="698251" y="779907"/>
            <a:ext cx="8596668" cy="5909424"/>
          </a:xfrm>
        </p:spPr>
        <p:txBody>
          <a:bodyPr>
            <a:normAutofit/>
          </a:bodyPr>
          <a:lstStyle/>
          <a:p>
            <a:pPr marL="0" indent="0">
              <a:buNone/>
            </a:pPr>
            <a:r>
              <a:rPr lang="en-GB" sz="2800" b="1" dirty="0">
                <a:solidFill>
                  <a:schemeClr val="accent1"/>
                </a:solidFill>
                <a:latin typeface="Times New Roman" panose="02020603050405020304" pitchFamily="18" charset="0"/>
                <a:cs typeface="Times New Roman" panose="02020603050405020304" pitchFamily="18" charset="0"/>
              </a:rPr>
              <a:t>METHODOLOGY</a:t>
            </a:r>
            <a:endParaRPr lang="en-US" sz="2800" b="1" dirty="0">
              <a:solidFill>
                <a:schemeClr val="accent1"/>
              </a:solidFill>
            </a:endParaRPr>
          </a:p>
        </p:txBody>
      </p:sp>
      <p:sp>
        <p:nvSpPr>
          <p:cNvPr id="2" name="TextBox 1">
            <a:extLst>
              <a:ext uri="{FF2B5EF4-FFF2-40B4-BE49-F238E27FC236}">
                <a16:creationId xmlns:a16="http://schemas.microsoft.com/office/drawing/2014/main" id="{704F095B-907A-5839-F7DE-04FD20E5CF55}"/>
              </a:ext>
            </a:extLst>
          </p:cNvPr>
          <p:cNvSpPr txBox="1"/>
          <p:nvPr/>
        </p:nvSpPr>
        <p:spPr>
          <a:xfrm>
            <a:off x="10573966" y="437744"/>
            <a:ext cx="385042" cy="523220"/>
          </a:xfrm>
          <a:prstGeom prst="rect">
            <a:avLst/>
          </a:prstGeom>
          <a:noFill/>
        </p:spPr>
        <p:txBody>
          <a:bodyPr wrap="none" rtlCol="0">
            <a:spAutoFit/>
          </a:bodyPr>
          <a:lstStyle/>
          <a:p>
            <a:r>
              <a:rPr lang="en-US" sz="2800" b="1" dirty="0"/>
              <a:t>6</a:t>
            </a:r>
            <a:endParaRPr lang="en-US" b="1" dirty="0"/>
          </a:p>
        </p:txBody>
      </p:sp>
    </p:spTree>
    <p:extLst>
      <p:ext uri="{BB962C8B-B14F-4D97-AF65-F5344CB8AC3E}">
        <p14:creationId xmlns:p14="http://schemas.microsoft.com/office/powerpoint/2010/main" val="105813276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4916FF-D8B5-4ED9-AE20-87B434A63ADB}"/>
              </a:ext>
            </a:extLst>
          </p:cNvPr>
          <p:cNvSpPr>
            <a:spLocks noGrp="1"/>
          </p:cNvSpPr>
          <p:nvPr>
            <p:ph type="title"/>
          </p:nvPr>
        </p:nvSpPr>
        <p:spPr>
          <a:xfrm>
            <a:off x="557751" y="515397"/>
            <a:ext cx="8596668" cy="917361"/>
          </a:xfrm>
        </p:spPr>
        <p:txBody>
          <a:bodyPr>
            <a:noAutofit/>
          </a:bodyPr>
          <a:lstStyle/>
          <a:p>
            <a:r>
              <a:rPr lang="en-GB" sz="2800" b="1" dirty="0">
                <a:latin typeface="Times New Roman" panose="02020603050405020304" pitchFamily="18" charset="0"/>
                <a:cs typeface="Times New Roman" panose="02020603050405020304" pitchFamily="18" charset="0"/>
              </a:rPr>
              <a:t>IMPLEMENTATION (LEARNING &amp; PREDICTION STAGES)</a:t>
            </a:r>
            <a:br>
              <a:rPr lang="en-GB" sz="2800" b="1" dirty="0">
                <a:latin typeface="Times New Roman" panose="02020603050405020304" pitchFamily="18" charset="0"/>
                <a:cs typeface="Times New Roman" panose="02020603050405020304" pitchFamily="18" charset="0"/>
              </a:rPr>
            </a:br>
            <a:endParaRPr lang="en-US" sz="2800" b="1" dirty="0"/>
          </a:p>
        </p:txBody>
      </p:sp>
      <p:pic>
        <p:nvPicPr>
          <p:cNvPr id="82" name="Picture 81">
            <a:extLst>
              <a:ext uri="{FF2B5EF4-FFF2-40B4-BE49-F238E27FC236}">
                <a16:creationId xmlns:a16="http://schemas.microsoft.com/office/drawing/2014/main" id="{ECF5A62C-EBA0-7F43-30F5-0388DF9F54F6}"/>
              </a:ext>
            </a:extLst>
          </p:cNvPr>
          <p:cNvPicPr>
            <a:picLocks noChangeAspect="1"/>
          </p:cNvPicPr>
          <p:nvPr/>
        </p:nvPicPr>
        <p:blipFill>
          <a:blip r:embed="rId2"/>
          <a:stretch>
            <a:fillRect/>
          </a:stretch>
        </p:blipFill>
        <p:spPr>
          <a:xfrm>
            <a:off x="3837582" y="1108953"/>
            <a:ext cx="4168281" cy="5669444"/>
          </a:xfrm>
          <a:prstGeom prst="rect">
            <a:avLst/>
          </a:prstGeom>
        </p:spPr>
      </p:pic>
      <p:sp>
        <p:nvSpPr>
          <p:cNvPr id="83" name="TextBox 82">
            <a:extLst>
              <a:ext uri="{FF2B5EF4-FFF2-40B4-BE49-F238E27FC236}">
                <a16:creationId xmlns:a16="http://schemas.microsoft.com/office/drawing/2014/main" id="{E4F8A8B3-E6E4-85AC-592A-E584027ED14E}"/>
              </a:ext>
            </a:extLst>
          </p:cNvPr>
          <p:cNvSpPr txBox="1"/>
          <p:nvPr/>
        </p:nvSpPr>
        <p:spPr>
          <a:xfrm>
            <a:off x="10573966" y="437744"/>
            <a:ext cx="385042" cy="523220"/>
          </a:xfrm>
          <a:prstGeom prst="rect">
            <a:avLst/>
          </a:prstGeom>
          <a:noFill/>
        </p:spPr>
        <p:txBody>
          <a:bodyPr wrap="none" rtlCol="0">
            <a:spAutoFit/>
          </a:bodyPr>
          <a:lstStyle/>
          <a:p>
            <a:r>
              <a:rPr lang="en-US" sz="2800" b="1" dirty="0"/>
              <a:t>7</a:t>
            </a:r>
            <a:endParaRPr lang="en-US" b="1" dirty="0"/>
          </a:p>
        </p:txBody>
      </p:sp>
    </p:spTree>
    <p:extLst>
      <p:ext uri="{BB962C8B-B14F-4D97-AF65-F5344CB8AC3E}">
        <p14:creationId xmlns:p14="http://schemas.microsoft.com/office/powerpoint/2010/main" val="221759976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47FD2D-F135-4510-9C72-EAB96B9CCA5D}"/>
              </a:ext>
            </a:extLst>
          </p:cNvPr>
          <p:cNvSpPr>
            <a:spLocks noGrp="1"/>
          </p:cNvSpPr>
          <p:nvPr>
            <p:ph type="title"/>
          </p:nvPr>
        </p:nvSpPr>
        <p:spPr>
          <a:xfrm>
            <a:off x="677334" y="363428"/>
            <a:ext cx="8596668" cy="578406"/>
          </a:xfrm>
        </p:spPr>
        <p:txBody>
          <a:bodyPr>
            <a:normAutofit/>
          </a:bodyPr>
          <a:lstStyle/>
          <a:p>
            <a:r>
              <a:rPr lang="en-GB" sz="2800" b="1">
                <a:latin typeface="Times New Roman" panose="02020603050405020304" pitchFamily="18" charset="0"/>
                <a:cs typeface="Times New Roman" panose="02020603050405020304" pitchFamily="18" charset="0"/>
              </a:rPr>
              <a:t>RESULTS</a:t>
            </a:r>
            <a:endParaRPr lang="en-US" sz="2800" b="1" dirty="0"/>
          </a:p>
        </p:txBody>
      </p:sp>
      <p:sp>
        <p:nvSpPr>
          <p:cNvPr id="3" name="Content Placeholder 2">
            <a:extLst>
              <a:ext uri="{FF2B5EF4-FFF2-40B4-BE49-F238E27FC236}">
                <a16:creationId xmlns:a16="http://schemas.microsoft.com/office/drawing/2014/main" id="{36B5EB62-CF96-4BED-B2F7-D0EDB68AE206}"/>
              </a:ext>
            </a:extLst>
          </p:cNvPr>
          <p:cNvSpPr>
            <a:spLocks noGrp="1"/>
          </p:cNvSpPr>
          <p:nvPr>
            <p:ph idx="1"/>
          </p:nvPr>
        </p:nvSpPr>
        <p:spPr>
          <a:xfrm>
            <a:off x="677334" y="909457"/>
            <a:ext cx="7463489" cy="5468645"/>
          </a:xfrm>
        </p:spPr>
        <p:txBody>
          <a:bodyPr>
            <a:normAutofit/>
          </a:bodyPr>
          <a:lstStyle/>
          <a:p>
            <a:pPr marL="0" indent="0">
              <a:buNone/>
            </a:pPr>
            <a:r>
              <a:rPr lang="en-US" dirty="0"/>
              <a:t>Here the given figure shown the prediction of next element for Cancer Prediction scenario and Power Consumption</a:t>
            </a:r>
            <a:r>
              <a:rPr lang="en-US" b="1" dirty="0"/>
              <a:t> </a:t>
            </a:r>
            <a:r>
              <a:rPr lang="en-US" i="1" dirty="0"/>
              <a:t>scenario</a:t>
            </a:r>
            <a:r>
              <a:rPr lang="en-US" dirty="0"/>
              <a:t>. </a:t>
            </a:r>
          </a:p>
        </p:txBody>
      </p:sp>
      <p:pic>
        <p:nvPicPr>
          <p:cNvPr id="4098" name="Picture 2" descr="https://lh7-rt.googleusercontent.com/docsz/AD_4nXe6luyGl5hXSBXH_TQXLnmLZoOyHQuPXTHL1bH69q2Lr_rIBTFqdZpEbeD-NNY1mpFf-u7P6dNK5NwOHzIkuZ473J4TMmf8xVxzbF-3FH542nlNngFEdif42bmes7dNs2_zlHKmzw?key=o98Bhp0_0hD6GFWWnocsU2I5">
            <a:extLst>
              <a:ext uri="{FF2B5EF4-FFF2-40B4-BE49-F238E27FC236}">
                <a16:creationId xmlns:a16="http://schemas.microsoft.com/office/drawing/2014/main" id="{17F046D7-DE77-4A36-AEFD-2550AA37178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39478" y="1951485"/>
            <a:ext cx="3086798" cy="4572000"/>
          </a:xfrm>
          <a:prstGeom prst="rect">
            <a:avLst/>
          </a:prstGeom>
          <a:noFill/>
          <a:extLst>
            <a:ext uri="{909E8E84-426E-40DD-AFC4-6F175D3DCCD1}">
              <a14:hiddenFill xmlns:a14="http://schemas.microsoft.com/office/drawing/2010/main">
                <a:solidFill>
                  <a:srgbClr val="FFFFFF"/>
                </a:solidFill>
              </a14:hiddenFill>
            </a:ext>
          </a:extLst>
        </p:spPr>
      </p:pic>
      <p:pic>
        <p:nvPicPr>
          <p:cNvPr id="4100" name="Picture 4" descr="https://lh7-rt.googleusercontent.com/docsz/AD_4nXdmXl3lw0LYGasRjyc7xC8pIZcMwEOy-vbDfjlbjbVsFgn9S1nP_ykULd8KKKvKGHvwhkihm38zQFYMtWh_Ie0W0gYml9t3KG6G4z-EkCwVL-WnASvOLiyFD81VtKO9mFD-iYgy1Q?key=o98Bhp0_0hD6GFWWnocsU2I5">
            <a:extLst>
              <a:ext uri="{FF2B5EF4-FFF2-40B4-BE49-F238E27FC236}">
                <a16:creationId xmlns:a16="http://schemas.microsoft.com/office/drawing/2014/main" id="{32553021-6E6E-48ED-A74E-2720960C10A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760763" y="1951485"/>
            <a:ext cx="3209925" cy="4572000"/>
          </a:xfrm>
          <a:prstGeom prst="rect">
            <a:avLst/>
          </a:prstGeom>
          <a:noFill/>
          <a:extLst>
            <a:ext uri="{909E8E84-426E-40DD-AFC4-6F175D3DCCD1}">
              <a14:hiddenFill xmlns:a14="http://schemas.microsoft.com/office/drawing/2010/main">
                <a:solidFill>
                  <a:srgbClr val="FFFFFF"/>
                </a:solidFill>
              </a14:hiddenFill>
            </a:ext>
          </a:extLst>
        </p:spPr>
      </p:pic>
      <p:pic>
        <p:nvPicPr>
          <p:cNvPr id="1026" name="Picture 2">
            <a:extLst>
              <a:ext uri="{FF2B5EF4-FFF2-40B4-BE49-F238E27FC236}">
                <a16:creationId xmlns:a16="http://schemas.microsoft.com/office/drawing/2014/main" id="{966C1531-F3BE-F093-F2C1-BBCD68B4C13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075490" y="2233587"/>
            <a:ext cx="1977078" cy="1962150"/>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a:extLst>
              <a:ext uri="{FF2B5EF4-FFF2-40B4-BE49-F238E27FC236}">
                <a16:creationId xmlns:a16="http://schemas.microsoft.com/office/drawing/2014/main" id="{ED7058D6-5220-891D-ACFC-70457FEC6CB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888420" y="2233587"/>
            <a:ext cx="2658295" cy="1857375"/>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a:extLst>
              <a:ext uri="{FF2B5EF4-FFF2-40B4-BE49-F238E27FC236}">
                <a16:creationId xmlns:a16="http://schemas.microsoft.com/office/drawing/2014/main" id="{6B9C0B06-1B4C-6245-EC30-49B20C28556E}"/>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0075490" y="4847085"/>
            <a:ext cx="1977077" cy="1676400"/>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a:extLst>
              <a:ext uri="{FF2B5EF4-FFF2-40B4-BE49-F238E27FC236}">
                <a16:creationId xmlns:a16="http://schemas.microsoft.com/office/drawing/2014/main" id="{B5EF592F-A5D3-FE4D-1C4A-C29AFCA195D9}"/>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888420" y="4666110"/>
            <a:ext cx="2567507" cy="1857375"/>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4" name="Table 3">
            <a:extLst>
              <a:ext uri="{FF2B5EF4-FFF2-40B4-BE49-F238E27FC236}">
                <a16:creationId xmlns:a16="http://schemas.microsoft.com/office/drawing/2014/main" id="{C07C0DF2-3CB8-1A15-4294-3C9DE9280D94}"/>
              </a:ext>
            </a:extLst>
          </p:cNvPr>
          <p:cNvGraphicFramePr>
            <a:graphicFrameLocks noGrp="1"/>
          </p:cNvGraphicFramePr>
          <p:nvPr>
            <p:extLst>
              <p:ext uri="{D42A27DB-BD31-4B8C-83A1-F6EECF244321}">
                <p14:modId xmlns:p14="http://schemas.microsoft.com/office/powerpoint/2010/main" val="2274473478"/>
              </p:ext>
            </p:extLst>
          </p:nvPr>
        </p:nvGraphicFramePr>
        <p:xfrm>
          <a:off x="3913284" y="1809041"/>
          <a:ext cx="2453333" cy="370840"/>
        </p:xfrm>
        <a:graphic>
          <a:graphicData uri="http://schemas.openxmlformats.org/drawingml/2006/table">
            <a:tbl>
              <a:tblPr firstRow="1" bandRow="1">
                <a:tableStyleId>{073A0DAA-6AF3-43AB-8588-CEC1D06C72B9}</a:tableStyleId>
              </a:tblPr>
              <a:tblGrid>
                <a:gridCol w="2453333">
                  <a:extLst>
                    <a:ext uri="{9D8B030D-6E8A-4147-A177-3AD203B41FA5}">
                      <a16:colId xmlns:a16="http://schemas.microsoft.com/office/drawing/2014/main" val="3878068303"/>
                    </a:ext>
                  </a:extLst>
                </a:gridCol>
              </a:tblGrid>
              <a:tr h="370840">
                <a:tc>
                  <a:txBody>
                    <a:bodyPr/>
                    <a:lstStyle/>
                    <a:p>
                      <a:r>
                        <a:rPr lang="en-US" dirty="0"/>
                        <a:t>Training Sequence</a:t>
                      </a:r>
                    </a:p>
                  </a:txBody>
                  <a:tcPr>
                    <a:lnL w="12700" cmpd="sng">
                      <a:noFill/>
                    </a:lnL>
                    <a:lnR w="12700" cmpd="sng">
                      <a:noFill/>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758731155"/>
                  </a:ext>
                </a:extLst>
              </a:tr>
            </a:tbl>
          </a:graphicData>
        </a:graphic>
      </p:graphicFrame>
      <p:graphicFrame>
        <p:nvGraphicFramePr>
          <p:cNvPr id="6" name="Table 5">
            <a:extLst>
              <a:ext uri="{FF2B5EF4-FFF2-40B4-BE49-F238E27FC236}">
                <a16:creationId xmlns:a16="http://schemas.microsoft.com/office/drawing/2014/main" id="{C3F08DB9-67F6-6810-BC0D-CB800E2E3BDC}"/>
              </a:ext>
            </a:extLst>
          </p:cNvPr>
          <p:cNvGraphicFramePr>
            <a:graphicFrameLocks noGrp="1"/>
          </p:cNvGraphicFramePr>
          <p:nvPr>
            <p:extLst>
              <p:ext uri="{D42A27DB-BD31-4B8C-83A1-F6EECF244321}">
                <p14:modId xmlns:p14="http://schemas.microsoft.com/office/powerpoint/2010/main" val="294109941"/>
              </p:ext>
            </p:extLst>
          </p:nvPr>
        </p:nvGraphicFramePr>
        <p:xfrm>
          <a:off x="9970688" y="1862747"/>
          <a:ext cx="2453333" cy="370840"/>
        </p:xfrm>
        <a:graphic>
          <a:graphicData uri="http://schemas.openxmlformats.org/drawingml/2006/table">
            <a:tbl>
              <a:tblPr firstRow="1" bandRow="1">
                <a:tableStyleId>{073A0DAA-6AF3-43AB-8588-CEC1D06C72B9}</a:tableStyleId>
              </a:tblPr>
              <a:tblGrid>
                <a:gridCol w="2453333">
                  <a:extLst>
                    <a:ext uri="{9D8B030D-6E8A-4147-A177-3AD203B41FA5}">
                      <a16:colId xmlns:a16="http://schemas.microsoft.com/office/drawing/2014/main" val="3878068303"/>
                    </a:ext>
                  </a:extLst>
                </a:gridCol>
              </a:tblGrid>
              <a:tr h="370840">
                <a:tc>
                  <a:txBody>
                    <a:bodyPr/>
                    <a:lstStyle/>
                    <a:p>
                      <a:r>
                        <a:rPr lang="en-US" dirty="0"/>
                        <a:t>Training Sequence</a:t>
                      </a:r>
                    </a:p>
                  </a:txBody>
                  <a:tcPr>
                    <a:lnL w="12700" cmpd="sng">
                      <a:noFill/>
                    </a:lnL>
                    <a:lnR w="12700" cmpd="sng">
                      <a:noFill/>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758731155"/>
                  </a:ext>
                </a:extLst>
              </a:tr>
            </a:tbl>
          </a:graphicData>
        </a:graphic>
      </p:graphicFrame>
      <p:graphicFrame>
        <p:nvGraphicFramePr>
          <p:cNvPr id="7" name="Table 6">
            <a:extLst>
              <a:ext uri="{FF2B5EF4-FFF2-40B4-BE49-F238E27FC236}">
                <a16:creationId xmlns:a16="http://schemas.microsoft.com/office/drawing/2014/main" id="{7FC3068F-AE0A-1053-E4A1-17C7BA164FE1}"/>
              </a:ext>
            </a:extLst>
          </p:cNvPr>
          <p:cNvGraphicFramePr>
            <a:graphicFrameLocks noGrp="1"/>
          </p:cNvGraphicFramePr>
          <p:nvPr>
            <p:extLst>
              <p:ext uri="{D42A27DB-BD31-4B8C-83A1-F6EECF244321}">
                <p14:modId xmlns:p14="http://schemas.microsoft.com/office/powerpoint/2010/main" val="3702649354"/>
              </p:ext>
            </p:extLst>
          </p:nvPr>
        </p:nvGraphicFramePr>
        <p:xfrm>
          <a:off x="3925508" y="4266151"/>
          <a:ext cx="2453333" cy="370840"/>
        </p:xfrm>
        <a:graphic>
          <a:graphicData uri="http://schemas.openxmlformats.org/drawingml/2006/table">
            <a:tbl>
              <a:tblPr firstRow="1" bandRow="1">
                <a:tableStyleId>{073A0DAA-6AF3-43AB-8588-CEC1D06C72B9}</a:tableStyleId>
              </a:tblPr>
              <a:tblGrid>
                <a:gridCol w="2453333">
                  <a:extLst>
                    <a:ext uri="{9D8B030D-6E8A-4147-A177-3AD203B41FA5}">
                      <a16:colId xmlns:a16="http://schemas.microsoft.com/office/drawing/2014/main" val="3878068303"/>
                    </a:ext>
                  </a:extLst>
                </a:gridCol>
              </a:tblGrid>
              <a:tr h="370840">
                <a:tc>
                  <a:txBody>
                    <a:bodyPr/>
                    <a:lstStyle/>
                    <a:p>
                      <a:r>
                        <a:rPr lang="en-US" dirty="0"/>
                        <a:t>Test Sequence</a:t>
                      </a:r>
                    </a:p>
                  </a:txBody>
                  <a:tcPr>
                    <a:lnL w="12700" cmpd="sng">
                      <a:noFill/>
                    </a:lnL>
                    <a:lnR w="12700" cmpd="sng">
                      <a:noFill/>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758731155"/>
                  </a:ext>
                </a:extLst>
              </a:tr>
            </a:tbl>
          </a:graphicData>
        </a:graphic>
      </p:graphicFrame>
      <p:graphicFrame>
        <p:nvGraphicFramePr>
          <p:cNvPr id="8" name="Table 7">
            <a:extLst>
              <a:ext uri="{FF2B5EF4-FFF2-40B4-BE49-F238E27FC236}">
                <a16:creationId xmlns:a16="http://schemas.microsoft.com/office/drawing/2014/main" id="{E65D20A4-2D89-76CB-0BBF-DFD23558A670}"/>
              </a:ext>
            </a:extLst>
          </p:cNvPr>
          <p:cNvGraphicFramePr>
            <a:graphicFrameLocks noGrp="1"/>
          </p:cNvGraphicFramePr>
          <p:nvPr>
            <p:extLst>
              <p:ext uri="{D42A27DB-BD31-4B8C-83A1-F6EECF244321}">
                <p14:modId xmlns:p14="http://schemas.microsoft.com/office/powerpoint/2010/main" val="1563081364"/>
              </p:ext>
            </p:extLst>
          </p:nvPr>
        </p:nvGraphicFramePr>
        <p:xfrm>
          <a:off x="10075490" y="4466524"/>
          <a:ext cx="2453333" cy="399171"/>
        </p:xfrm>
        <a:graphic>
          <a:graphicData uri="http://schemas.openxmlformats.org/drawingml/2006/table">
            <a:tbl>
              <a:tblPr firstRow="1" bandRow="1">
                <a:tableStyleId>{073A0DAA-6AF3-43AB-8588-CEC1D06C72B9}</a:tableStyleId>
              </a:tblPr>
              <a:tblGrid>
                <a:gridCol w="2453333">
                  <a:extLst>
                    <a:ext uri="{9D8B030D-6E8A-4147-A177-3AD203B41FA5}">
                      <a16:colId xmlns:a16="http://schemas.microsoft.com/office/drawing/2014/main" val="3878068303"/>
                    </a:ext>
                  </a:extLst>
                </a:gridCol>
              </a:tblGrid>
              <a:tr h="399171">
                <a:tc>
                  <a:txBody>
                    <a:bodyPr/>
                    <a:lstStyle/>
                    <a:p>
                      <a:r>
                        <a:rPr lang="en-US" dirty="0"/>
                        <a:t>Test Sequence</a:t>
                      </a:r>
                    </a:p>
                  </a:txBody>
                  <a:tcPr>
                    <a:lnL w="12700" cmpd="sng">
                      <a:noFill/>
                    </a:lnL>
                    <a:lnR w="12700" cmpd="sng">
                      <a:noFill/>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758731155"/>
                  </a:ext>
                </a:extLst>
              </a:tr>
            </a:tbl>
          </a:graphicData>
        </a:graphic>
      </p:graphicFrame>
      <p:sp>
        <p:nvSpPr>
          <p:cNvPr id="9" name="TextBox 8">
            <a:extLst>
              <a:ext uri="{FF2B5EF4-FFF2-40B4-BE49-F238E27FC236}">
                <a16:creationId xmlns:a16="http://schemas.microsoft.com/office/drawing/2014/main" id="{E84CA7DC-B5E9-00CE-5331-9A69EAFFDAB0}"/>
              </a:ext>
            </a:extLst>
          </p:cNvPr>
          <p:cNvSpPr txBox="1"/>
          <p:nvPr/>
        </p:nvSpPr>
        <p:spPr>
          <a:xfrm>
            <a:off x="10573966" y="437744"/>
            <a:ext cx="385042" cy="523220"/>
          </a:xfrm>
          <a:prstGeom prst="rect">
            <a:avLst/>
          </a:prstGeom>
          <a:noFill/>
        </p:spPr>
        <p:txBody>
          <a:bodyPr wrap="none" rtlCol="0">
            <a:spAutoFit/>
          </a:bodyPr>
          <a:lstStyle/>
          <a:p>
            <a:r>
              <a:rPr lang="en-US" sz="2800" b="1" dirty="0"/>
              <a:t>8</a:t>
            </a:r>
            <a:endParaRPr lang="en-US" b="1" dirty="0"/>
          </a:p>
        </p:txBody>
      </p:sp>
    </p:spTree>
    <p:extLst>
      <p:ext uri="{BB962C8B-B14F-4D97-AF65-F5344CB8AC3E}">
        <p14:creationId xmlns:p14="http://schemas.microsoft.com/office/powerpoint/2010/main" val="184495000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49E5CA-BF81-4DBF-936D-FB33A427BB58}"/>
              </a:ext>
            </a:extLst>
          </p:cNvPr>
          <p:cNvSpPr>
            <a:spLocks noGrp="1"/>
          </p:cNvSpPr>
          <p:nvPr>
            <p:ph type="title"/>
          </p:nvPr>
        </p:nvSpPr>
        <p:spPr>
          <a:xfrm>
            <a:off x="1309723" y="1190714"/>
            <a:ext cx="8596668" cy="784194"/>
          </a:xfrm>
        </p:spPr>
        <p:txBody>
          <a:bodyPr>
            <a:normAutofit/>
          </a:bodyPr>
          <a:lstStyle/>
          <a:p>
            <a:r>
              <a:rPr lang="en-US" sz="2800" b="1" dirty="0"/>
              <a:t>Conclusion</a:t>
            </a:r>
          </a:p>
        </p:txBody>
      </p:sp>
      <p:sp>
        <p:nvSpPr>
          <p:cNvPr id="3" name="Content Placeholder 2">
            <a:extLst>
              <a:ext uri="{FF2B5EF4-FFF2-40B4-BE49-F238E27FC236}">
                <a16:creationId xmlns:a16="http://schemas.microsoft.com/office/drawing/2014/main" id="{E172E6AE-25E6-4AA9-B1C3-1EB8B4DA14E7}"/>
              </a:ext>
            </a:extLst>
          </p:cNvPr>
          <p:cNvSpPr>
            <a:spLocks noGrp="1"/>
          </p:cNvSpPr>
          <p:nvPr>
            <p:ph idx="1"/>
          </p:nvPr>
        </p:nvSpPr>
        <p:spPr>
          <a:xfrm>
            <a:off x="2158412" y="2367627"/>
            <a:ext cx="8596668" cy="3880773"/>
          </a:xfrm>
        </p:spPr>
        <p:txBody>
          <a:bodyPr/>
          <a:lstStyle/>
          <a:p>
            <a:pPr marL="0" indent="0">
              <a:buNone/>
            </a:pPr>
            <a:r>
              <a:rPr lang="en-US" dirty="0"/>
              <a:t>The HTM-based system successfully transforms raw JSON data into robust Sparse Distributed Representations, enabling accurate predictions across diverse applications such as cancer and power consumption forecasting. Iterative training and automated accuracy reporting underscore the model’s strong performance and its potential for further optimization and broader application in sequence prediction tasks.</a:t>
            </a:r>
          </a:p>
        </p:txBody>
      </p:sp>
      <p:sp>
        <p:nvSpPr>
          <p:cNvPr id="4" name="TextBox 3">
            <a:extLst>
              <a:ext uri="{FF2B5EF4-FFF2-40B4-BE49-F238E27FC236}">
                <a16:creationId xmlns:a16="http://schemas.microsoft.com/office/drawing/2014/main" id="{6E3F471A-5A3F-B7DC-6D1E-81DE2258D8CA}"/>
              </a:ext>
            </a:extLst>
          </p:cNvPr>
          <p:cNvSpPr txBox="1"/>
          <p:nvPr/>
        </p:nvSpPr>
        <p:spPr>
          <a:xfrm>
            <a:off x="10573966" y="437744"/>
            <a:ext cx="385042" cy="523220"/>
          </a:xfrm>
          <a:prstGeom prst="rect">
            <a:avLst/>
          </a:prstGeom>
          <a:noFill/>
        </p:spPr>
        <p:txBody>
          <a:bodyPr wrap="none" rtlCol="0">
            <a:spAutoFit/>
          </a:bodyPr>
          <a:lstStyle/>
          <a:p>
            <a:r>
              <a:rPr lang="en-US" sz="2800" b="1" dirty="0"/>
              <a:t>9</a:t>
            </a:r>
            <a:endParaRPr lang="en-US" b="1" dirty="0"/>
          </a:p>
        </p:txBody>
      </p:sp>
    </p:spTree>
    <p:extLst>
      <p:ext uri="{BB962C8B-B14F-4D97-AF65-F5344CB8AC3E}">
        <p14:creationId xmlns:p14="http://schemas.microsoft.com/office/powerpoint/2010/main" val="36976192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A3BA38-6E45-9B2E-3D72-BA09D70E4646}"/>
              </a:ext>
            </a:extLst>
          </p:cNvPr>
          <p:cNvSpPr>
            <a:spLocks noGrp="1"/>
          </p:cNvSpPr>
          <p:nvPr>
            <p:ph type="title"/>
          </p:nvPr>
        </p:nvSpPr>
        <p:spPr>
          <a:xfrm>
            <a:off x="2654373" y="2512255"/>
            <a:ext cx="9404723" cy="1400530"/>
          </a:xfrm>
        </p:spPr>
        <p:txBody>
          <a:bodyPr/>
          <a:lstStyle/>
          <a:p>
            <a:r>
              <a:rPr lang="en-US" sz="8800" dirty="0"/>
              <a:t>Thank You</a:t>
            </a:r>
          </a:p>
        </p:txBody>
      </p:sp>
      <p:sp>
        <p:nvSpPr>
          <p:cNvPr id="4" name="TextBox 3">
            <a:extLst>
              <a:ext uri="{FF2B5EF4-FFF2-40B4-BE49-F238E27FC236}">
                <a16:creationId xmlns:a16="http://schemas.microsoft.com/office/drawing/2014/main" id="{39A3D9B4-264C-808D-2D44-FEF519802289}"/>
              </a:ext>
            </a:extLst>
          </p:cNvPr>
          <p:cNvSpPr txBox="1"/>
          <p:nvPr/>
        </p:nvSpPr>
        <p:spPr>
          <a:xfrm>
            <a:off x="10488508" y="429198"/>
            <a:ext cx="585417" cy="523220"/>
          </a:xfrm>
          <a:prstGeom prst="rect">
            <a:avLst/>
          </a:prstGeom>
          <a:noFill/>
        </p:spPr>
        <p:txBody>
          <a:bodyPr wrap="none" rtlCol="0">
            <a:spAutoFit/>
          </a:bodyPr>
          <a:lstStyle/>
          <a:p>
            <a:r>
              <a:rPr lang="en-US" sz="2800" b="1" dirty="0"/>
              <a:t>10</a:t>
            </a:r>
            <a:endParaRPr lang="en-US" b="1" dirty="0"/>
          </a:p>
        </p:txBody>
      </p:sp>
    </p:spTree>
    <p:extLst>
      <p:ext uri="{BB962C8B-B14F-4D97-AF65-F5344CB8AC3E}">
        <p14:creationId xmlns:p14="http://schemas.microsoft.com/office/powerpoint/2010/main" val="3757374865"/>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4849A"/>
      </a:accent5>
      <a:accent6>
        <a:srgbClr val="9E5E9B"/>
      </a:accent6>
      <a:hlink>
        <a:srgbClr val="58C1BA"/>
      </a:hlink>
      <a:folHlink>
        <a:srgbClr val="9DFFC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docProps/app.xml><?xml version="1.0" encoding="utf-8"?>
<Properties xmlns="http://schemas.openxmlformats.org/officeDocument/2006/extended-properties" xmlns:vt="http://schemas.openxmlformats.org/officeDocument/2006/docPropsVTypes">
  <Template>Ion</Template>
  <TotalTime>96</TotalTime>
  <Words>353</Words>
  <Application>Microsoft Office PowerPoint</Application>
  <PresentationFormat>Widescreen</PresentationFormat>
  <Paragraphs>69</Paragraphs>
  <Slides>10</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10</vt:i4>
      </vt:variant>
    </vt:vector>
  </HeadingPairs>
  <TitlesOfParts>
    <vt:vector size="16" baseType="lpstr">
      <vt:lpstr>Arial</vt:lpstr>
      <vt:lpstr>Century Gothic</vt:lpstr>
      <vt:lpstr>Times New Roman</vt:lpstr>
      <vt:lpstr>Wingdings</vt:lpstr>
      <vt:lpstr>Wingdings 3</vt:lpstr>
      <vt:lpstr>Ion</vt:lpstr>
      <vt:lpstr>ML23/24-09 Approve Prediction of Multisequence Learning </vt:lpstr>
      <vt:lpstr> OBJECTIVE</vt:lpstr>
      <vt:lpstr>TABLE OF CONTENT</vt:lpstr>
      <vt:lpstr>INTRODUCTION</vt:lpstr>
      <vt:lpstr> HIERARCHICAL TEMPORAL MEMORY (HTM)</vt:lpstr>
      <vt:lpstr>PowerPoint Presentation</vt:lpstr>
      <vt:lpstr>IMPLEMENTATION (LEARNING &amp; PREDICTION STAGES) </vt:lpstr>
      <vt:lpstr>RESULTS</vt:lpstr>
      <vt:lpstr>Conclusion</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ML24/25-09 Approve Prediction of Multisequence Learning</dc:title>
  <dc:creator>Mahidul Islam</dc:creator>
  <cp:lastModifiedBy>Fazley Rabbe</cp:lastModifiedBy>
  <cp:revision>24</cp:revision>
  <dcterms:created xsi:type="dcterms:W3CDTF">2025-03-22T18:13:48Z</dcterms:created>
  <dcterms:modified xsi:type="dcterms:W3CDTF">2025-03-23T01:01:55Z</dcterms:modified>
</cp:coreProperties>
</file>